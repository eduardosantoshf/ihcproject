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embeddedFontLst>
    <p:embeddedFont>
      <p:font typeface="Raleway"/>
      <p:regular r:id="rId27"/>
      <p:bold r:id="rId28"/>
      <p:italic r:id="rId29"/>
      <p:boldItalic r:id="rId30"/>
    </p:embeddedFont>
    <p:embeddedFont>
      <p:font typeface="Roboto"/>
      <p:regular r:id="rId31"/>
      <p:bold r:id="rId32"/>
      <p:italic r:id="rId33"/>
      <p:boldItalic r:id="rId34"/>
    </p:embeddedFont>
    <p:embeddedFont>
      <p:font typeface="Lato"/>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Raleway-bold.fntdata"/><Relationship Id="rId27" Type="http://schemas.openxmlformats.org/officeDocument/2006/relationships/font" Target="fonts/Raleway-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aleway-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Roboto-regular.fntdata"/><Relationship Id="rId30" Type="http://schemas.openxmlformats.org/officeDocument/2006/relationships/font" Target="fonts/Raleway-boldItalic.fntdata"/><Relationship Id="rId11" Type="http://schemas.openxmlformats.org/officeDocument/2006/relationships/slide" Target="slides/slide6.xml"/><Relationship Id="rId33" Type="http://schemas.openxmlformats.org/officeDocument/2006/relationships/font" Target="fonts/Roboto-italic.fntdata"/><Relationship Id="rId10" Type="http://schemas.openxmlformats.org/officeDocument/2006/relationships/slide" Target="slides/slide5.xml"/><Relationship Id="rId32" Type="http://schemas.openxmlformats.org/officeDocument/2006/relationships/font" Target="fonts/Roboto-bold.fntdata"/><Relationship Id="rId13" Type="http://schemas.openxmlformats.org/officeDocument/2006/relationships/slide" Target="slides/slide8.xml"/><Relationship Id="rId35" Type="http://schemas.openxmlformats.org/officeDocument/2006/relationships/font" Target="fonts/Lato-regular.fntdata"/><Relationship Id="rId12" Type="http://schemas.openxmlformats.org/officeDocument/2006/relationships/slide" Target="slides/slide7.xml"/><Relationship Id="rId34" Type="http://schemas.openxmlformats.org/officeDocument/2006/relationships/font" Target="fonts/Roboto-boldItalic.fntdata"/><Relationship Id="rId15" Type="http://schemas.openxmlformats.org/officeDocument/2006/relationships/slide" Target="slides/slide10.xml"/><Relationship Id="rId37" Type="http://schemas.openxmlformats.org/officeDocument/2006/relationships/font" Target="fonts/Lato-italic.fntdata"/><Relationship Id="rId14" Type="http://schemas.openxmlformats.org/officeDocument/2006/relationships/slide" Target="slides/slide9.xml"/><Relationship Id="rId36" Type="http://schemas.openxmlformats.org/officeDocument/2006/relationships/font" Target="fonts/Lato-bold.fntdata"/><Relationship Id="rId17" Type="http://schemas.openxmlformats.org/officeDocument/2006/relationships/slide" Target="slides/slide12.xml"/><Relationship Id="rId16" Type="http://schemas.openxmlformats.org/officeDocument/2006/relationships/slide" Target="slides/slide11.xml"/><Relationship Id="rId38" Type="http://schemas.openxmlformats.org/officeDocument/2006/relationships/font" Target="fonts/Lato-bold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82" name="Shape 82"/>
        <p:cNvGrpSpPr/>
        <p:nvPr/>
      </p:nvGrpSpPr>
      <p:grpSpPr>
        <a:xfrm>
          <a:off x="0" y="0"/>
          <a:ext cx="0" cy="0"/>
          <a:chOff x="0" y="0"/>
          <a:chExt cx="0" cy="0"/>
        </a:xfrm>
      </p:grpSpPr>
      <p:sp>
        <p:nvSpPr>
          <p:cNvPr id="83" name="Google Shape;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0" name="Shape 90"/>
        <p:cNvGrpSpPr/>
        <p:nvPr/>
      </p:nvGrpSpPr>
      <p:grpSpPr>
        <a:xfrm>
          <a:off x="0" y="0"/>
          <a:ext cx="0" cy="0"/>
          <a:chOff x="0" y="0"/>
          <a:chExt cx="0" cy="0"/>
        </a:xfrm>
      </p:grpSpPr>
      <p:sp>
        <p:nvSpPr>
          <p:cNvPr id="91" name="Google Shape;91;g87e0a9af3d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87e0a9af3d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g87e0a9af3d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87e0a9af3d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6" name="Shape 106"/>
        <p:cNvGrpSpPr/>
        <p:nvPr/>
      </p:nvGrpSpPr>
      <p:grpSpPr>
        <a:xfrm>
          <a:off x="0" y="0"/>
          <a:ext cx="0" cy="0"/>
          <a:chOff x="0" y="0"/>
          <a:chExt cx="0" cy="0"/>
        </a:xfrm>
      </p:grpSpPr>
      <p:sp>
        <p:nvSpPr>
          <p:cNvPr id="107" name="Google Shape;107;g87e0a9af3d_1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87e0a9af3d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3" name="Shape 113"/>
        <p:cNvGrpSpPr/>
        <p:nvPr/>
      </p:nvGrpSpPr>
      <p:grpSpPr>
        <a:xfrm>
          <a:off x="0" y="0"/>
          <a:ext cx="0" cy="0"/>
          <a:chOff x="0" y="0"/>
          <a:chExt cx="0" cy="0"/>
        </a:xfrm>
      </p:grpSpPr>
      <p:sp>
        <p:nvSpPr>
          <p:cNvPr id="114" name="Google Shape;114;g87e0a9af3d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87e0a9af3d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0" name="Shape 120"/>
        <p:cNvGrpSpPr/>
        <p:nvPr/>
      </p:nvGrpSpPr>
      <p:grpSpPr>
        <a:xfrm>
          <a:off x="0" y="0"/>
          <a:ext cx="0" cy="0"/>
          <a:chOff x="0" y="0"/>
          <a:chExt cx="0" cy="0"/>
        </a:xfrm>
      </p:grpSpPr>
      <p:sp>
        <p:nvSpPr>
          <p:cNvPr id="121" name="Google Shape;121;g87e0a9af3d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87e0a9af3d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g87e0a9af3d_1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87e0a9af3d_1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6" name="Shape 136"/>
        <p:cNvGrpSpPr/>
        <p:nvPr/>
      </p:nvGrpSpPr>
      <p:grpSpPr>
        <a:xfrm>
          <a:off x="0" y="0"/>
          <a:ext cx="0" cy="0"/>
          <a:chOff x="0" y="0"/>
          <a:chExt cx="0" cy="0"/>
        </a:xfrm>
      </p:grpSpPr>
      <p:sp>
        <p:nvSpPr>
          <p:cNvPr id="137" name="Google Shape;137;g87e0a9af3d_1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87e0a9af3d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4" name="Shape 144"/>
        <p:cNvGrpSpPr/>
        <p:nvPr/>
      </p:nvGrpSpPr>
      <p:grpSpPr>
        <a:xfrm>
          <a:off x="0" y="0"/>
          <a:ext cx="0" cy="0"/>
          <a:chOff x="0" y="0"/>
          <a:chExt cx="0" cy="0"/>
        </a:xfrm>
      </p:grpSpPr>
      <p:sp>
        <p:nvSpPr>
          <p:cNvPr id="145" name="Google Shape;145;g87e0a9af3d_1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87e0a9af3d_1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9" name="Shape 159"/>
        <p:cNvGrpSpPr/>
        <p:nvPr/>
      </p:nvGrpSpPr>
      <p:grpSpPr>
        <a:xfrm>
          <a:off x="0" y="0"/>
          <a:ext cx="0" cy="0"/>
          <a:chOff x="0" y="0"/>
          <a:chExt cx="0" cy="0"/>
        </a:xfrm>
      </p:grpSpPr>
      <p:sp>
        <p:nvSpPr>
          <p:cNvPr id="160" name="Google Shape;160;g87e0a9af3d_1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87e0a9af3d_1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1" name="Shape 171"/>
        <p:cNvGrpSpPr/>
        <p:nvPr/>
      </p:nvGrpSpPr>
      <p:grpSpPr>
        <a:xfrm>
          <a:off x="0" y="0"/>
          <a:ext cx="0" cy="0"/>
          <a:chOff x="0" y="0"/>
          <a:chExt cx="0" cy="0"/>
        </a:xfrm>
      </p:grpSpPr>
      <p:sp>
        <p:nvSpPr>
          <p:cNvPr id="172" name="Google Shape;172;g87e0a9af3d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87e0a9af3d_1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9" name="Shape 179"/>
        <p:cNvGrpSpPr/>
        <p:nvPr/>
      </p:nvGrpSpPr>
      <p:grpSpPr>
        <a:xfrm>
          <a:off x="0" y="0"/>
          <a:ext cx="0" cy="0"/>
          <a:chOff x="0" y="0"/>
          <a:chExt cx="0" cy="0"/>
        </a:xfrm>
      </p:grpSpPr>
      <p:sp>
        <p:nvSpPr>
          <p:cNvPr id="180" name="Google Shape;180;g87e0a9af3d_1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87e0a9af3d_1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g880a19c8d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880a19c8d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g880a19c8de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880a19c8de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2" name="Shape 202"/>
        <p:cNvGrpSpPr/>
        <p:nvPr/>
      </p:nvGrpSpPr>
      <p:grpSpPr>
        <a:xfrm>
          <a:off x="0" y="0"/>
          <a:ext cx="0" cy="0"/>
          <a:chOff x="0" y="0"/>
          <a:chExt cx="0" cy="0"/>
        </a:xfrm>
      </p:grpSpPr>
      <p:sp>
        <p:nvSpPr>
          <p:cNvPr id="203" name="Google Shape;203;g880a19c8de_1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880a19c8de_1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9" name="Shape 209"/>
        <p:cNvGrpSpPr/>
        <p:nvPr/>
      </p:nvGrpSpPr>
      <p:grpSpPr>
        <a:xfrm>
          <a:off x="0" y="0"/>
          <a:ext cx="0" cy="0"/>
          <a:chOff x="0" y="0"/>
          <a:chExt cx="0" cy="0"/>
        </a:xfrm>
      </p:grpSpPr>
      <p:sp>
        <p:nvSpPr>
          <p:cNvPr id="210" name="Google Shape;210;g880a19c8de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880a19c8de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6" name="Shape 216"/>
        <p:cNvGrpSpPr/>
        <p:nvPr/>
      </p:nvGrpSpPr>
      <p:grpSpPr>
        <a:xfrm>
          <a:off x="0" y="0"/>
          <a:ext cx="0" cy="0"/>
          <a:chOff x="0" y="0"/>
          <a:chExt cx="0" cy="0"/>
        </a:xfrm>
      </p:grpSpPr>
      <p:sp>
        <p:nvSpPr>
          <p:cNvPr id="217" name="Google Shape;217;g880a19c8de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880a19c8de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22" name="Shape 222"/>
        <p:cNvGrpSpPr/>
        <p:nvPr/>
      </p:nvGrpSpPr>
      <p:grpSpPr>
        <a:xfrm>
          <a:off x="0" y="0"/>
          <a:ext cx="0" cy="0"/>
          <a:chOff x="0" y="0"/>
          <a:chExt cx="0" cy="0"/>
        </a:xfrm>
      </p:grpSpPr>
      <p:sp>
        <p:nvSpPr>
          <p:cNvPr id="223" name="Google Shape;223;g880a19c8de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880a19c8de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28" name="Shape 228"/>
        <p:cNvGrpSpPr/>
        <p:nvPr/>
      </p:nvGrpSpPr>
      <p:grpSpPr>
        <a:xfrm>
          <a:off x="0" y="0"/>
          <a:ext cx="0" cy="0"/>
          <a:chOff x="0" y="0"/>
          <a:chExt cx="0" cy="0"/>
        </a:xfrm>
      </p:grpSpPr>
      <p:sp>
        <p:nvSpPr>
          <p:cNvPr id="229" name="Google Shape;229;g87e0a9af3d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g87e0a9af3d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37" name="Shape 237"/>
        <p:cNvGrpSpPr/>
        <p:nvPr/>
      </p:nvGrpSpPr>
      <p:grpSpPr>
        <a:xfrm>
          <a:off x="0" y="0"/>
          <a:ext cx="0" cy="0"/>
          <a:chOff x="0" y="0"/>
          <a:chExt cx="0" cy="0"/>
        </a:xfrm>
      </p:grpSpPr>
      <p:sp>
        <p:nvSpPr>
          <p:cNvPr id="238" name="Google Shape;238;g880a19c8de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880a19c8de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47" name="Shape 247"/>
        <p:cNvGrpSpPr/>
        <p:nvPr/>
      </p:nvGrpSpPr>
      <p:grpSpPr>
        <a:xfrm>
          <a:off x="0" y="0"/>
          <a:ext cx="0" cy="0"/>
          <a:chOff x="0" y="0"/>
          <a:chExt cx="0" cy="0"/>
        </a:xfrm>
      </p:grpSpPr>
      <p:sp>
        <p:nvSpPr>
          <p:cNvPr id="248" name="Google Shape;248;g87e0a9af3d_1_1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87e0a9af3d_1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729450" y="1322450"/>
            <a:ext cx="7688100" cy="16647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4200"/>
              <a:buNone/>
              <a:defRPr sz="4200">
                <a:solidFill>
                  <a:schemeClr val="dk2"/>
                </a:solidFill>
              </a:defRPr>
            </a:lvl1pPr>
            <a:lvl2pPr lvl="1">
              <a:spcBef>
                <a:spcPts val="0"/>
              </a:spcBef>
              <a:spcAft>
                <a:spcPts val="0"/>
              </a:spcAft>
              <a:buClr>
                <a:schemeClr val="dk2"/>
              </a:buClr>
              <a:buSzPts val="4200"/>
              <a:buNone/>
              <a:defRPr sz="4200">
                <a:solidFill>
                  <a:schemeClr val="dk2"/>
                </a:solidFill>
              </a:defRPr>
            </a:lvl2pPr>
            <a:lvl3pPr lvl="2">
              <a:spcBef>
                <a:spcPts val="0"/>
              </a:spcBef>
              <a:spcAft>
                <a:spcPts val="0"/>
              </a:spcAft>
              <a:buClr>
                <a:schemeClr val="dk2"/>
              </a:buClr>
              <a:buSzPts val="4200"/>
              <a:buNone/>
              <a:defRPr sz="4200">
                <a:solidFill>
                  <a:schemeClr val="dk2"/>
                </a:solidFill>
              </a:defRPr>
            </a:lvl3pPr>
            <a:lvl4pPr lvl="3">
              <a:spcBef>
                <a:spcPts val="0"/>
              </a:spcBef>
              <a:spcAft>
                <a:spcPts val="0"/>
              </a:spcAft>
              <a:buClr>
                <a:schemeClr val="dk2"/>
              </a:buClr>
              <a:buSzPts val="4200"/>
              <a:buNone/>
              <a:defRPr sz="4200">
                <a:solidFill>
                  <a:schemeClr val="dk2"/>
                </a:solidFill>
              </a:defRPr>
            </a:lvl4pPr>
            <a:lvl5pPr lvl="4">
              <a:spcBef>
                <a:spcPts val="0"/>
              </a:spcBef>
              <a:spcAft>
                <a:spcPts val="0"/>
              </a:spcAft>
              <a:buClr>
                <a:schemeClr val="dk2"/>
              </a:buClr>
              <a:buSzPts val="4200"/>
              <a:buNone/>
              <a:defRPr sz="4200">
                <a:solidFill>
                  <a:schemeClr val="dk2"/>
                </a:solidFill>
              </a:defRPr>
            </a:lvl5pPr>
            <a:lvl6pPr lvl="5">
              <a:spcBef>
                <a:spcPts val="0"/>
              </a:spcBef>
              <a:spcAft>
                <a:spcPts val="0"/>
              </a:spcAft>
              <a:buClr>
                <a:schemeClr val="dk2"/>
              </a:buClr>
              <a:buSzPts val="4200"/>
              <a:buNone/>
              <a:defRPr sz="4200">
                <a:solidFill>
                  <a:schemeClr val="dk2"/>
                </a:solidFill>
              </a:defRPr>
            </a:lvl6pPr>
            <a:lvl7pPr lvl="6">
              <a:spcBef>
                <a:spcPts val="0"/>
              </a:spcBef>
              <a:spcAft>
                <a:spcPts val="0"/>
              </a:spcAft>
              <a:buClr>
                <a:schemeClr val="dk2"/>
              </a:buClr>
              <a:buSzPts val="4200"/>
              <a:buNone/>
              <a:defRPr sz="4200">
                <a:solidFill>
                  <a:schemeClr val="dk2"/>
                </a:solidFill>
              </a:defRPr>
            </a:lvl7pPr>
            <a:lvl8pPr lvl="7">
              <a:spcBef>
                <a:spcPts val="0"/>
              </a:spcBef>
              <a:spcAft>
                <a:spcPts val="0"/>
              </a:spcAft>
              <a:buClr>
                <a:schemeClr val="dk2"/>
              </a:buClr>
              <a:buSzPts val="4200"/>
              <a:buNone/>
              <a:defRPr sz="4200">
                <a:solidFill>
                  <a:schemeClr val="dk2"/>
                </a:solidFill>
              </a:defRPr>
            </a:lvl8pPr>
            <a:lvl9pPr lvl="8">
              <a:spcBef>
                <a:spcPts val="0"/>
              </a:spcBef>
              <a:spcAft>
                <a:spcPts val="0"/>
              </a:spcAft>
              <a:buClr>
                <a:schemeClr val="dk2"/>
              </a:buClr>
              <a:buSzPts val="4200"/>
              <a:buNone/>
              <a:defRPr sz="4200">
                <a:solidFill>
                  <a:schemeClr val="dk2"/>
                </a:solidFill>
              </a:defRPr>
            </a:lvl9pPr>
          </a:lstStyle>
          <a:p/>
        </p:txBody>
      </p:sp>
      <p:sp>
        <p:nvSpPr>
          <p:cNvPr id="15" name="Google Shape;15;p2"/>
          <p:cNvSpPr txBox="1"/>
          <p:nvPr>
            <p:ph idx="1" type="subTitle"/>
          </p:nvPr>
        </p:nvSpPr>
        <p:spPr>
          <a:xfrm>
            <a:off x="729627" y="3172900"/>
            <a:ext cx="7688100" cy="54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type="secHead">
  <p:cSld name="SECTION_HEADER">
    <p:bg>
      <p:bgPr>
        <a:solidFill>
          <a:schemeClr val="dk1"/>
        </a:solidFill>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 name="Google Shape;21;p3"/>
          <p:cNvSpPr txBox="1"/>
          <p:nvPr>
            <p:ph type="title"/>
          </p:nvPr>
        </p:nvSpPr>
        <p:spPr>
          <a:xfrm>
            <a:off x="729450" y="1322450"/>
            <a:ext cx="7688400" cy="1518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body" type="tx">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 name="Google Shape;28;p4"/>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p:txBody>
      </p:sp>
      <p:sp>
        <p:nvSpPr>
          <p:cNvPr id="29" name="Google Shape;29;p4"/>
          <p:cNvSpPr txBox="1"/>
          <p:nvPr>
            <p:ph idx="1" type="body"/>
          </p:nvPr>
        </p:nvSpPr>
        <p:spPr>
          <a:xfrm>
            <a:off x="729450" y="2078875"/>
            <a:ext cx="7688700" cy="22611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30" name="Google Shape;30;p4"/>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two columns" type="twoColTx">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 name="Google Shape;36;p5"/>
          <p:cNvSpPr txBox="1"/>
          <p:nvPr>
            <p:ph type="title"/>
          </p:nvPr>
        </p:nvSpPr>
        <p:spPr>
          <a:xfrm>
            <a:off x="729450" y="1318650"/>
            <a:ext cx="7688400" cy="535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p:txBody>
      </p:sp>
      <p:sp>
        <p:nvSpPr>
          <p:cNvPr id="37" name="Google Shape;37;p5"/>
          <p:cNvSpPr txBox="1"/>
          <p:nvPr>
            <p:ph idx="1" type="body"/>
          </p:nvPr>
        </p:nvSpPr>
        <p:spPr>
          <a:xfrm>
            <a:off x="729325" y="2078875"/>
            <a:ext cx="3774300" cy="22611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38" name="Google Shape;38;p5"/>
          <p:cNvSpPr txBox="1"/>
          <p:nvPr>
            <p:ph idx="2" type="body"/>
          </p:nvPr>
        </p:nvSpPr>
        <p:spPr>
          <a:xfrm>
            <a:off x="4643604" y="2078875"/>
            <a:ext cx="3774300" cy="22611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39" name="Google Shape;39;p5"/>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6"/>
          <p:cNvSpPr txBox="1"/>
          <p:nvPr>
            <p:ph type="title"/>
          </p:nvPr>
        </p:nvSpPr>
        <p:spPr>
          <a:xfrm>
            <a:off x="729450" y="1318650"/>
            <a:ext cx="7688400" cy="535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p:txBody>
      </p:sp>
      <p:sp>
        <p:nvSpPr>
          <p:cNvPr id="46" name="Google Shape;46;p6"/>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7"/>
          <p:cNvSpPr txBox="1"/>
          <p:nvPr>
            <p:ph type="title"/>
          </p:nvPr>
        </p:nvSpPr>
        <p:spPr>
          <a:xfrm>
            <a:off x="730000" y="1318650"/>
            <a:ext cx="3300900" cy="13815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p:txBody>
      </p:sp>
      <p:sp>
        <p:nvSpPr>
          <p:cNvPr id="53" name="Google Shape;53;p7"/>
          <p:cNvSpPr txBox="1"/>
          <p:nvPr>
            <p:ph idx="1" type="body"/>
          </p:nvPr>
        </p:nvSpPr>
        <p:spPr>
          <a:xfrm>
            <a:off x="721225" y="2781725"/>
            <a:ext cx="3300900" cy="1597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54" name="Google Shape;54;p7"/>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Main point">
  <p:cSld name="MAIN_POINT">
    <p:bg>
      <p:bgPr>
        <a:solidFill>
          <a:schemeClr val="accent3"/>
        </a:solidFill>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 name="Google Shape;59;p8"/>
          <p:cNvSpPr txBox="1"/>
          <p:nvPr>
            <p:ph type="title"/>
          </p:nvPr>
        </p:nvSpPr>
        <p:spPr>
          <a:xfrm>
            <a:off x="729450" y="864300"/>
            <a:ext cx="7021200" cy="29850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9"/>
          <p:cNvSpPr txBox="1"/>
          <p:nvPr>
            <p:ph type="title"/>
          </p:nvPr>
        </p:nvSpPr>
        <p:spPr>
          <a:xfrm>
            <a:off x="730000" y="1318650"/>
            <a:ext cx="3300900" cy="1687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p:txBody>
      </p:sp>
      <p:sp>
        <p:nvSpPr>
          <p:cNvPr id="67" name="Google Shape;67;p9"/>
          <p:cNvSpPr txBox="1"/>
          <p:nvPr>
            <p:ph idx="1" type="subTitle"/>
          </p:nvPr>
        </p:nvSpPr>
        <p:spPr>
          <a:xfrm>
            <a:off x="724950" y="3161525"/>
            <a:ext cx="3300900" cy="759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idx="2" type="body"/>
          </p:nvPr>
        </p:nvSpPr>
        <p:spPr>
          <a:xfrm>
            <a:off x="5174225" y="1352625"/>
            <a:ext cx="3374400" cy="3025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69" name="Google Shape;69;p9"/>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aption">
  <p:cSld name="CAPTION_ONLY">
    <p:spTree>
      <p:nvGrpSpPr>
        <p:cNvPr id="70" name="Shape 70"/>
        <p:cNvGrpSpPr/>
        <p:nvPr/>
      </p:nvGrpSpPr>
      <p:grpSpPr>
        <a:xfrm>
          <a:off x="0" y="0"/>
          <a:ext cx="0" cy="0"/>
          <a:chOff x="0" y="0"/>
          <a:chExt cx="0" cy="0"/>
        </a:xfrm>
      </p:grpSpPr>
      <p:sp>
        <p:nvSpPr>
          <p:cNvPr id="71" name="Google Shape;71;p10"/>
          <p:cNvSpPr txBox="1"/>
          <p:nvPr>
            <p:ph idx="1" type="body"/>
          </p:nvPr>
        </p:nvSpPr>
        <p:spPr>
          <a:xfrm>
            <a:off x="724950" y="4372551"/>
            <a:ext cx="7697400" cy="4605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300"/>
              <a:buNone/>
              <a:defRPr/>
            </a:lvl1pPr>
          </a:lstStyle>
          <a:p/>
        </p:txBody>
      </p:sp>
      <p:sp>
        <p:nvSpPr>
          <p:cNvPr id="72" name="Google Shape;72;p10"/>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ig number">
  <p:cSld name="BIG_NUMBER">
    <p:bg>
      <p:bgPr>
        <a:solidFill>
          <a:schemeClr val="dk1"/>
        </a:solidFill>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 name="Google Shape;77;p11"/>
          <p:cNvSpPr txBox="1"/>
          <p:nvPr>
            <p:ph hasCustomPrompt="1" type="title"/>
          </p:nvPr>
        </p:nvSpPr>
        <p:spPr>
          <a:xfrm>
            <a:off x="729450" y="733950"/>
            <a:ext cx="7688400" cy="1244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idx="1" type="body"/>
          </p:nvPr>
        </p:nvSpPr>
        <p:spPr>
          <a:xfrm>
            <a:off x="729450" y="2272888"/>
            <a:ext cx="7688400" cy="15804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Clr>
                <a:schemeClr val="lt1"/>
              </a:buClr>
              <a:buSzPts val="1300"/>
              <a:buChar char="●"/>
              <a:defRPr>
                <a:solidFill>
                  <a:schemeClr val="lt1"/>
                </a:solidFill>
              </a:defRPr>
            </a:lvl1pPr>
            <a:lvl2pPr indent="-298450" lvl="1" marL="914400">
              <a:spcBef>
                <a:spcPts val="1600"/>
              </a:spcBef>
              <a:spcAft>
                <a:spcPts val="0"/>
              </a:spcAft>
              <a:buClr>
                <a:schemeClr val="lt1"/>
              </a:buClr>
              <a:buSzPts val="1100"/>
              <a:buChar char="○"/>
              <a:defRPr>
                <a:solidFill>
                  <a:schemeClr val="lt1"/>
                </a:solidFill>
              </a:defRPr>
            </a:lvl2pPr>
            <a:lvl3pPr indent="-298450" lvl="2" marL="1371600">
              <a:spcBef>
                <a:spcPts val="1600"/>
              </a:spcBef>
              <a:spcAft>
                <a:spcPts val="0"/>
              </a:spcAft>
              <a:buClr>
                <a:schemeClr val="lt1"/>
              </a:buClr>
              <a:buSzPts val="1100"/>
              <a:buChar char="■"/>
              <a:defRPr>
                <a:solidFill>
                  <a:schemeClr val="lt1"/>
                </a:solidFill>
              </a:defRPr>
            </a:lvl3pPr>
            <a:lvl4pPr indent="-298450" lvl="3" marL="1828800">
              <a:spcBef>
                <a:spcPts val="1600"/>
              </a:spcBef>
              <a:spcAft>
                <a:spcPts val="0"/>
              </a:spcAft>
              <a:buClr>
                <a:schemeClr val="lt1"/>
              </a:buClr>
              <a:buSzPts val="1100"/>
              <a:buChar char="●"/>
              <a:defRPr>
                <a:solidFill>
                  <a:schemeClr val="lt1"/>
                </a:solidFill>
              </a:defRPr>
            </a:lvl4pPr>
            <a:lvl5pPr indent="-298450" lvl="4" marL="2286000">
              <a:spcBef>
                <a:spcPts val="1600"/>
              </a:spcBef>
              <a:spcAft>
                <a:spcPts val="0"/>
              </a:spcAft>
              <a:buClr>
                <a:schemeClr val="lt1"/>
              </a:buClr>
              <a:buSzPts val="1100"/>
              <a:buChar char="○"/>
              <a:defRPr>
                <a:solidFill>
                  <a:schemeClr val="lt1"/>
                </a:solidFill>
              </a:defRPr>
            </a:lvl5pPr>
            <a:lvl6pPr indent="-298450" lvl="5" marL="2743200">
              <a:spcBef>
                <a:spcPts val="1600"/>
              </a:spcBef>
              <a:spcAft>
                <a:spcPts val="0"/>
              </a:spcAft>
              <a:buClr>
                <a:schemeClr val="lt1"/>
              </a:buClr>
              <a:buSzPts val="1100"/>
              <a:buChar char="■"/>
              <a:defRPr>
                <a:solidFill>
                  <a:schemeClr val="lt1"/>
                </a:solidFill>
              </a:defRPr>
            </a:lvl6pPr>
            <a:lvl7pPr indent="-298450" lvl="6" marL="3200400">
              <a:spcBef>
                <a:spcPts val="1600"/>
              </a:spcBef>
              <a:spcAft>
                <a:spcPts val="0"/>
              </a:spcAft>
              <a:buClr>
                <a:schemeClr val="lt1"/>
              </a:buClr>
              <a:buSzPts val="1100"/>
              <a:buChar char="●"/>
              <a:defRPr>
                <a:solidFill>
                  <a:schemeClr val="lt1"/>
                </a:solidFill>
              </a:defRPr>
            </a:lvl7pPr>
            <a:lvl8pPr indent="-298450" lvl="7" marL="3657600">
              <a:spcBef>
                <a:spcPts val="1600"/>
              </a:spcBef>
              <a:spcAft>
                <a:spcPts val="0"/>
              </a:spcAft>
              <a:buClr>
                <a:schemeClr val="lt1"/>
              </a:buClr>
              <a:buSzPts val="1100"/>
              <a:buChar char="○"/>
              <a:defRPr>
                <a:solidFill>
                  <a:schemeClr val="lt1"/>
                </a:solidFill>
              </a:defRPr>
            </a:lvl8pPr>
            <a:lvl9pPr indent="-298450" lvl="8" marL="4114800">
              <a:spcBef>
                <a:spcPts val="1600"/>
              </a:spcBef>
              <a:spcAft>
                <a:spcPts val="1600"/>
              </a:spcAft>
              <a:buClr>
                <a:schemeClr val="lt1"/>
              </a:buClr>
              <a:buSzPts val="1100"/>
              <a:buChar char="■"/>
              <a:defRPr>
                <a:solidFill>
                  <a:schemeClr val="lt1"/>
                </a:solidFill>
              </a:defRPr>
            </a:lvl9pPr>
          </a:lstStyle>
          <a:p/>
        </p:txBody>
      </p:sp>
      <p:sp>
        <p:nvSpPr>
          <p:cNvPr id="79" name="Google Shape;79;p11"/>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type="blank">
  <p:cSld name="BLANK">
    <p:spTree>
      <p:nvGrpSpPr>
        <p:cNvPr id="80" name="Shape 80"/>
        <p:cNvGrpSpPr/>
        <p:nvPr/>
      </p:nvGrpSpPr>
      <p:grpSpPr>
        <a:xfrm>
          <a:off x="0" y="0"/>
          <a:ext cx="0" cy="0"/>
          <a:chOff x="0" y="0"/>
          <a:chExt cx="0" cy="0"/>
        </a:xfrm>
      </p:grpSpPr>
      <p:sp>
        <p:nvSpPr>
          <p:cNvPr id="81" name="Google Shape;81;p12"/>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pt-P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name="streamlin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2800"/>
              <a:buFont typeface="Raleway"/>
              <a:buNone/>
              <a:defRPr b="1" sz="2800">
                <a:latin typeface="Raleway"/>
                <a:ea typeface="Raleway"/>
                <a:cs typeface="Raleway"/>
                <a:sym typeface="Raleway"/>
              </a:defRPr>
            </a:lvl1pPr>
            <a:lvl2pPr lvl="1">
              <a:spcBef>
                <a:spcPts val="0"/>
              </a:spcBef>
              <a:spcAft>
                <a:spcPts val="0"/>
              </a:spcAft>
              <a:buSzPts val="2800"/>
              <a:buFont typeface="Raleway"/>
              <a:buNone/>
              <a:defRPr b="1" sz="2800">
                <a:latin typeface="Raleway"/>
                <a:ea typeface="Raleway"/>
                <a:cs typeface="Raleway"/>
                <a:sym typeface="Raleway"/>
              </a:defRPr>
            </a:lvl2pPr>
            <a:lvl3pPr lvl="2">
              <a:spcBef>
                <a:spcPts val="0"/>
              </a:spcBef>
              <a:spcAft>
                <a:spcPts val="0"/>
              </a:spcAft>
              <a:buSzPts val="2800"/>
              <a:buFont typeface="Raleway"/>
              <a:buNone/>
              <a:defRPr b="1" sz="2800">
                <a:latin typeface="Raleway"/>
                <a:ea typeface="Raleway"/>
                <a:cs typeface="Raleway"/>
                <a:sym typeface="Raleway"/>
              </a:defRPr>
            </a:lvl3pPr>
            <a:lvl4pPr lvl="3">
              <a:spcBef>
                <a:spcPts val="0"/>
              </a:spcBef>
              <a:spcAft>
                <a:spcPts val="0"/>
              </a:spcAft>
              <a:buSzPts val="2800"/>
              <a:buFont typeface="Raleway"/>
              <a:buNone/>
              <a:defRPr b="1" sz="2800">
                <a:latin typeface="Raleway"/>
                <a:ea typeface="Raleway"/>
                <a:cs typeface="Raleway"/>
                <a:sym typeface="Raleway"/>
              </a:defRPr>
            </a:lvl4pPr>
            <a:lvl5pPr lvl="4">
              <a:spcBef>
                <a:spcPts val="0"/>
              </a:spcBef>
              <a:spcAft>
                <a:spcPts val="0"/>
              </a:spcAft>
              <a:buSzPts val="2800"/>
              <a:buFont typeface="Raleway"/>
              <a:buNone/>
              <a:defRPr b="1" sz="2800">
                <a:latin typeface="Raleway"/>
                <a:ea typeface="Raleway"/>
                <a:cs typeface="Raleway"/>
                <a:sym typeface="Raleway"/>
              </a:defRPr>
            </a:lvl5pPr>
            <a:lvl6pPr lvl="5">
              <a:spcBef>
                <a:spcPts val="0"/>
              </a:spcBef>
              <a:spcAft>
                <a:spcPts val="0"/>
              </a:spcAft>
              <a:buSzPts val="2800"/>
              <a:buFont typeface="Raleway"/>
              <a:buNone/>
              <a:defRPr b="1" sz="2800">
                <a:latin typeface="Raleway"/>
                <a:ea typeface="Raleway"/>
                <a:cs typeface="Raleway"/>
                <a:sym typeface="Raleway"/>
              </a:defRPr>
            </a:lvl6pPr>
            <a:lvl7pPr lvl="6">
              <a:spcBef>
                <a:spcPts val="0"/>
              </a:spcBef>
              <a:spcAft>
                <a:spcPts val="0"/>
              </a:spcAft>
              <a:buSzPts val="2800"/>
              <a:buFont typeface="Raleway"/>
              <a:buNone/>
              <a:defRPr b="1" sz="2800">
                <a:latin typeface="Raleway"/>
                <a:ea typeface="Raleway"/>
                <a:cs typeface="Raleway"/>
                <a:sym typeface="Raleway"/>
              </a:defRPr>
            </a:lvl7pPr>
            <a:lvl8pPr lvl="7">
              <a:spcBef>
                <a:spcPts val="0"/>
              </a:spcBef>
              <a:spcAft>
                <a:spcPts val="0"/>
              </a:spcAft>
              <a:buSzPts val="2800"/>
              <a:buFont typeface="Raleway"/>
              <a:buNone/>
              <a:defRPr b="1" sz="2800">
                <a:latin typeface="Raleway"/>
                <a:ea typeface="Raleway"/>
                <a:cs typeface="Raleway"/>
                <a:sym typeface="Raleway"/>
              </a:defRPr>
            </a:lvl8pPr>
            <a:lvl9pPr lvl="8">
              <a:spcBef>
                <a:spcPts val="0"/>
              </a:spcBef>
              <a:spcAft>
                <a:spcPts val="0"/>
              </a:spcAft>
              <a:buSzPts val="2800"/>
              <a:buFont typeface="Raleway"/>
              <a:buNone/>
              <a:defRPr b="1" sz="2800">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11150" lvl="0" marL="45720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indent="-298450" lvl="1" marL="9144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indent="-298450" lvl="2" marL="13716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indent="-298450" lvl="3" marL="18288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indent="-298450" lvl="4" marL="22860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indent="-298450" lvl="5" marL="27432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indent="-298450" lvl="6" marL="32004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indent="-298450" lvl="7" marL="36576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indent="-298450" lvl="8" marL="411480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p:txBody>
      </p:sp>
      <p:sp>
        <p:nvSpPr>
          <p:cNvPr id="8" name="Google Shape;8;p1"/>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pt-PT"/>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85" name="Shape 85"/>
        <p:cNvGrpSpPr/>
        <p:nvPr/>
      </p:nvGrpSpPr>
      <p:grpSpPr>
        <a:xfrm>
          <a:off x="0" y="0"/>
          <a:ext cx="0" cy="0"/>
          <a:chOff x="0" y="0"/>
          <a:chExt cx="0" cy="0"/>
        </a:xfrm>
      </p:grpSpPr>
      <p:pic>
        <p:nvPicPr>
          <p:cNvPr id="86" name="Google Shape;86;p13"/>
          <p:cNvPicPr preferRelativeResize="0"/>
          <p:nvPr/>
        </p:nvPicPr>
        <p:blipFill>
          <a:blip r:embed="rId3">
            <a:alphaModFix/>
          </a:blip>
          <a:stretch>
            <a:fillRect/>
          </a:stretch>
        </p:blipFill>
        <p:spPr>
          <a:xfrm>
            <a:off x="3540400" y="875825"/>
            <a:ext cx="1905000" cy="1905000"/>
          </a:xfrm>
          <a:prstGeom prst="rect">
            <a:avLst/>
          </a:prstGeom>
          <a:noFill/>
          <a:ln>
            <a:noFill/>
          </a:ln>
          <a:effectLst>
            <a:reflection blurRad="0" dir="0" dist="0" endA="0" endPos="12000" fadeDir="5400012" kx="0" rotWithShape="0" algn="bl" stPos="0" sy="-100000" ky="0"/>
          </a:effectLst>
        </p:spPr>
      </p:pic>
      <p:sp>
        <p:nvSpPr>
          <p:cNvPr id="87" name="Google Shape;87;p13"/>
          <p:cNvSpPr txBox="1"/>
          <p:nvPr/>
        </p:nvSpPr>
        <p:spPr>
          <a:xfrm>
            <a:off x="305175" y="4002125"/>
            <a:ext cx="5390100" cy="972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pt-PT" sz="1800"/>
              <a:t>Project Title:  </a:t>
            </a:r>
            <a:r>
              <a:rPr lang="pt-PT" sz="1800"/>
              <a:t>Muse-IC</a:t>
            </a:r>
            <a:endParaRPr sz="1800"/>
          </a:p>
          <a:p>
            <a:pPr indent="0" lvl="0" marL="0" rtl="0" algn="l">
              <a:lnSpc>
                <a:spcPct val="115000"/>
              </a:lnSpc>
              <a:spcBef>
                <a:spcPts val="0"/>
              </a:spcBef>
              <a:spcAft>
                <a:spcPts val="0"/>
              </a:spcAft>
              <a:buNone/>
            </a:pPr>
            <a:r>
              <a:rPr b="1" lang="pt-PT" sz="1800"/>
              <a:t>Group: </a:t>
            </a:r>
            <a:r>
              <a:rPr lang="pt-PT" sz="1800"/>
              <a:t>Pedro, Wei, Eduardo</a:t>
            </a:r>
            <a:endParaRPr sz="1800"/>
          </a:p>
          <a:p>
            <a:pPr indent="0" lvl="0" marL="0" rtl="0" algn="l">
              <a:lnSpc>
                <a:spcPct val="115000"/>
              </a:lnSpc>
              <a:spcBef>
                <a:spcPts val="0"/>
              </a:spcBef>
              <a:spcAft>
                <a:spcPts val="0"/>
              </a:spcAft>
              <a:buNone/>
            </a:pPr>
            <a:r>
              <a:rPr b="1" lang="pt-PT" sz="1800"/>
              <a:t>Lab Class: </a:t>
            </a:r>
            <a:r>
              <a:rPr lang="pt-PT" sz="1800"/>
              <a:t>P7</a:t>
            </a:r>
            <a:endParaRPr sz="1800"/>
          </a:p>
        </p:txBody>
      </p:sp>
      <p:sp>
        <p:nvSpPr>
          <p:cNvPr id="88" name="Google Shape;88;p13"/>
          <p:cNvSpPr txBox="1"/>
          <p:nvPr/>
        </p:nvSpPr>
        <p:spPr>
          <a:xfrm>
            <a:off x="2598300" y="2849225"/>
            <a:ext cx="4329000" cy="65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pt-PT" sz="2700">
                <a:solidFill>
                  <a:schemeClr val="accent2"/>
                </a:solidFill>
                <a:latin typeface="Lato"/>
                <a:ea typeface="Lato"/>
                <a:cs typeface="Lato"/>
                <a:sym typeface="Lato"/>
              </a:rPr>
              <a:t>Creation Of A Music App</a:t>
            </a:r>
            <a:endParaRPr sz="2700">
              <a:solidFill>
                <a:schemeClr val="accent2"/>
              </a:solidFill>
              <a:latin typeface="Lato"/>
              <a:ea typeface="Lato"/>
              <a:cs typeface="Lato"/>
              <a:sym typeface="Lato"/>
            </a:endParaRPr>
          </a:p>
        </p:txBody>
      </p:sp>
      <p:sp>
        <p:nvSpPr>
          <p:cNvPr id="89" name="Google Shape;89;p13"/>
          <p:cNvSpPr txBox="1"/>
          <p:nvPr/>
        </p:nvSpPr>
        <p:spPr>
          <a:xfrm>
            <a:off x="1526100" y="3357850"/>
            <a:ext cx="6091800" cy="38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pt-PT">
                <a:latin typeface="Lato"/>
                <a:ea typeface="Lato"/>
                <a:cs typeface="Lato"/>
                <a:sym typeface="Lato"/>
              </a:rPr>
              <a:t>Design and prototyping of an application using a human-centered approach</a:t>
            </a:r>
            <a:endParaRPr>
              <a:latin typeface="Lato"/>
              <a:ea typeface="Lato"/>
              <a:cs typeface="Lato"/>
              <a:sym typeface="Lato"/>
            </a:endParaRPr>
          </a:p>
          <a:p>
            <a:pPr indent="0" lvl="0" marL="0" rtl="0" algn="l">
              <a:spcBef>
                <a:spcPts val="0"/>
              </a:spcBef>
              <a:spcAft>
                <a:spcPts val="0"/>
              </a:spcAft>
              <a:buNone/>
            </a:pPr>
            <a:r>
              <a:t/>
            </a:r>
            <a:endParaRPr>
              <a:latin typeface="Lato"/>
              <a:ea typeface="Lato"/>
              <a:cs typeface="Lato"/>
              <a:sym typeface="Lato"/>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3" name="Shape 93"/>
        <p:cNvGrpSpPr/>
        <p:nvPr/>
      </p:nvGrpSpPr>
      <p:grpSpPr>
        <a:xfrm>
          <a:off x="0" y="0"/>
          <a:ext cx="0" cy="0"/>
          <a:chOff x="0" y="0"/>
          <a:chExt cx="0" cy="0"/>
        </a:xfrm>
      </p:grpSpPr>
      <p:sp>
        <p:nvSpPr>
          <p:cNvPr id="94" name="Google Shape;94;p14"/>
          <p:cNvSpPr txBox="1"/>
          <p:nvPr>
            <p:ph type="title"/>
          </p:nvPr>
        </p:nvSpPr>
        <p:spPr>
          <a:xfrm>
            <a:off x="654900" y="647775"/>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Introduction</a:t>
            </a:r>
            <a:endParaRPr/>
          </a:p>
        </p:txBody>
      </p:sp>
      <p:sp>
        <p:nvSpPr>
          <p:cNvPr id="95" name="Google Shape;95;p14"/>
          <p:cNvSpPr txBox="1"/>
          <p:nvPr>
            <p:ph idx="1" type="body"/>
          </p:nvPr>
        </p:nvSpPr>
        <p:spPr>
          <a:xfrm>
            <a:off x="522400" y="1565375"/>
            <a:ext cx="7688700" cy="2261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latin typeface="Raleway"/>
                <a:ea typeface="Raleway"/>
                <a:cs typeface="Raleway"/>
                <a:sym typeface="Raleway"/>
              </a:rPr>
              <a:t>A</a:t>
            </a:r>
            <a:r>
              <a:rPr lang="pt-PT">
                <a:latin typeface="Raleway"/>
                <a:ea typeface="Raleway"/>
                <a:cs typeface="Raleway"/>
                <a:sym typeface="Raleway"/>
              </a:rPr>
              <a:t>pp where users can listen to or upload their own songs/podcasts</a:t>
            </a:r>
            <a:endParaRPr>
              <a:latin typeface="Raleway"/>
              <a:ea typeface="Raleway"/>
              <a:cs typeface="Raleway"/>
              <a:sym typeface="Raleway"/>
            </a:endParaRPr>
          </a:p>
          <a:p>
            <a:pPr indent="0" lvl="0" marL="0" rtl="0" algn="l">
              <a:spcBef>
                <a:spcPts val="1600"/>
              </a:spcBef>
              <a:spcAft>
                <a:spcPts val="0"/>
              </a:spcAft>
              <a:buNone/>
            </a:pPr>
            <a:r>
              <a:rPr lang="pt-PT">
                <a:latin typeface="Raleway"/>
                <a:ea typeface="Raleway"/>
                <a:cs typeface="Raleway"/>
                <a:sym typeface="Raleway"/>
              </a:rPr>
              <a:t>Most Music Apps Don’t Allow for both functionalities</a:t>
            </a:r>
            <a:endParaRPr>
              <a:latin typeface="Raleway"/>
              <a:ea typeface="Raleway"/>
              <a:cs typeface="Raleway"/>
              <a:sym typeface="Raleway"/>
            </a:endParaRPr>
          </a:p>
          <a:p>
            <a:pPr indent="-298450" lvl="0" marL="457200" rtl="0" algn="l">
              <a:lnSpc>
                <a:spcPct val="150000"/>
              </a:lnSpc>
              <a:spcBef>
                <a:spcPts val="1600"/>
              </a:spcBef>
              <a:spcAft>
                <a:spcPts val="0"/>
              </a:spcAft>
              <a:buClr>
                <a:srgbClr val="000000"/>
              </a:buClr>
              <a:buSzPts val="1100"/>
              <a:buFont typeface="Raleway"/>
              <a:buChar char="●"/>
            </a:pPr>
            <a:r>
              <a:rPr lang="pt-PT" sz="1100">
                <a:solidFill>
                  <a:srgbClr val="000000"/>
                </a:solidFill>
                <a:latin typeface="Raleway"/>
                <a:ea typeface="Raleway"/>
                <a:cs typeface="Raleway"/>
                <a:sym typeface="Raleway"/>
              </a:rPr>
              <a:t>2 Main Users:</a:t>
            </a:r>
            <a:endParaRPr sz="1100">
              <a:solidFill>
                <a:srgbClr val="000000"/>
              </a:solidFill>
              <a:latin typeface="Raleway"/>
              <a:ea typeface="Raleway"/>
              <a:cs typeface="Raleway"/>
              <a:sym typeface="Raleway"/>
            </a:endParaRPr>
          </a:p>
          <a:p>
            <a:pPr indent="-298450" lvl="1" marL="914400" rtl="0" algn="l">
              <a:lnSpc>
                <a:spcPct val="150000"/>
              </a:lnSpc>
              <a:spcBef>
                <a:spcPts val="0"/>
              </a:spcBef>
              <a:spcAft>
                <a:spcPts val="0"/>
              </a:spcAft>
              <a:buClr>
                <a:srgbClr val="000000"/>
              </a:buClr>
              <a:buSzPts val="1100"/>
              <a:buFont typeface="Arial"/>
              <a:buChar char="○"/>
            </a:pPr>
            <a:r>
              <a:rPr b="1" lang="pt-PT">
                <a:solidFill>
                  <a:srgbClr val="000000"/>
                </a:solidFill>
                <a:latin typeface="Raleway"/>
                <a:ea typeface="Raleway"/>
                <a:cs typeface="Raleway"/>
                <a:sym typeface="Raleway"/>
              </a:rPr>
              <a:t>Listener</a:t>
            </a:r>
            <a:r>
              <a:rPr lang="pt-PT">
                <a:solidFill>
                  <a:srgbClr val="000000"/>
                </a:solidFill>
                <a:latin typeface="Raleway"/>
                <a:ea typeface="Raleway"/>
                <a:cs typeface="Raleway"/>
                <a:sym typeface="Raleway"/>
              </a:rPr>
              <a:t>: App usage includes listening to music, podcasts, creating playlists and reading lyrics</a:t>
            </a:r>
            <a:endParaRPr>
              <a:solidFill>
                <a:srgbClr val="000000"/>
              </a:solidFill>
              <a:latin typeface="Raleway"/>
              <a:ea typeface="Raleway"/>
              <a:cs typeface="Raleway"/>
              <a:sym typeface="Raleway"/>
            </a:endParaRPr>
          </a:p>
          <a:p>
            <a:pPr indent="-298450" lvl="1" marL="914400" rtl="0" algn="l">
              <a:lnSpc>
                <a:spcPct val="150000"/>
              </a:lnSpc>
              <a:spcBef>
                <a:spcPts val="0"/>
              </a:spcBef>
              <a:spcAft>
                <a:spcPts val="0"/>
              </a:spcAft>
              <a:buClr>
                <a:srgbClr val="000000"/>
              </a:buClr>
              <a:buSzPts val="1100"/>
              <a:buFont typeface="Arial"/>
              <a:buChar char="○"/>
            </a:pPr>
            <a:r>
              <a:rPr b="1" lang="pt-PT">
                <a:solidFill>
                  <a:srgbClr val="000000"/>
                </a:solidFill>
                <a:latin typeface="Raleway"/>
                <a:ea typeface="Raleway"/>
                <a:cs typeface="Raleway"/>
                <a:sym typeface="Raleway"/>
              </a:rPr>
              <a:t>Artist</a:t>
            </a:r>
            <a:r>
              <a:rPr lang="pt-PT">
                <a:solidFill>
                  <a:srgbClr val="000000"/>
                </a:solidFill>
                <a:latin typeface="Raleway"/>
                <a:ea typeface="Raleway"/>
                <a:cs typeface="Raleway"/>
                <a:sym typeface="Raleway"/>
              </a:rPr>
              <a:t>: App usage includes content sharing and stats overview</a:t>
            </a:r>
            <a:endParaRPr>
              <a:solidFill>
                <a:srgbClr val="000000"/>
              </a:solidFill>
              <a:latin typeface="Raleway"/>
              <a:ea typeface="Raleway"/>
              <a:cs typeface="Raleway"/>
              <a:sym typeface="Raleway"/>
            </a:endParaRPr>
          </a:p>
          <a:p>
            <a:pPr indent="0" lvl="0" marL="0" rtl="0" algn="l">
              <a:spcBef>
                <a:spcPts val="1600"/>
              </a:spcBef>
              <a:spcAft>
                <a:spcPts val="0"/>
              </a:spcAft>
              <a:buNone/>
            </a:pPr>
            <a:r>
              <a:t/>
            </a:r>
            <a:endParaRPr/>
          </a:p>
          <a:p>
            <a:pPr indent="0" lvl="0" marL="0" rtl="0" algn="l">
              <a:spcBef>
                <a:spcPts val="1600"/>
              </a:spcBef>
              <a:spcAft>
                <a:spcPts val="1600"/>
              </a:spcAft>
              <a:buNone/>
            </a:pPr>
            <a:r>
              <a:t/>
            </a:r>
            <a:endParaRPr/>
          </a:p>
        </p:txBody>
      </p:sp>
      <p:pic>
        <p:nvPicPr>
          <p:cNvPr id="96" name="Google Shape;96;p14"/>
          <p:cNvPicPr preferRelativeResize="0"/>
          <p:nvPr/>
        </p:nvPicPr>
        <p:blipFill>
          <a:blip r:embed="rId3">
            <a:alphaModFix/>
          </a:blip>
          <a:stretch>
            <a:fillRect/>
          </a:stretch>
        </p:blipFill>
        <p:spPr>
          <a:xfrm>
            <a:off x="6219375" y="803600"/>
            <a:ext cx="1872500" cy="1872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5"/>
          <p:cNvSpPr txBox="1"/>
          <p:nvPr>
            <p:ph idx="1" type="body"/>
          </p:nvPr>
        </p:nvSpPr>
        <p:spPr>
          <a:xfrm>
            <a:off x="688025" y="1345850"/>
            <a:ext cx="7688700" cy="2261100"/>
          </a:xfrm>
          <a:prstGeom prst="rect">
            <a:avLst/>
          </a:prstGeom>
        </p:spPr>
        <p:txBody>
          <a:bodyPr anchorCtr="0" anchor="t" bIns="91425" lIns="91425" spcFirstLastPara="1" rIns="91425" wrap="square" tIns="91425">
            <a:noAutofit/>
          </a:bodyPr>
          <a:lstStyle/>
          <a:p>
            <a:pPr indent="-311150" lvl="0" marL="457200" rtl="0" algn="l">
              <a:lnSpc>
                <a:spcPct val="150000"/>
              </a:lnSpc>
              <a:spcBef>
                <a:spcPts val="0"/>
              </a:spcBef>
              <a:spcAft>
                <a:spcPts val="0"/>
              </a:spcAft>
              <a:buSzPts val="1300"/>
              <a:buAutoNum type="arabicPeriod"/>
            </a:pPr>
            <a:r>
              <a:rPr lang="pt-PT">
                <a:latin typeface="Raleway"/>
                <a:ea typeface="Raleway"/>
                <a:cs typeface="Raleway"/>
                <a:sym typeface="Raleway"/>
              </a:rPr>
              <a:t>Create an overall better app that includes many features from top music streaming and music sharing apps like </a:t>
            </a:r>
            <a:r>
              <a:rPr b="1" lang="pt-PT">
                <a:latin typeface="Raleway"/>
                <a:ea typeface="Raleway"/>
                <a:cs typeface="Raleway"/>
                <a:sym typeface="Raleway"/>
              </a:rPr>
              <a:t>Spotify, Apple Music/iTunes and Soundcloud</a:t>
            </a:r>
            <a:endParaRPr b="1">
              <a:latin typeface="Raleway"/>
              <a:ea typeface="Raleway"/>
              <a:cs typeface="Raleway"/>
              <a:sym typeface="Raleway"/>
            </a:endParaRPr>
          </a:p>
          <a:p>
            <a:pPr indent="-311150" lvl="0" marL="457200" rtl="0" algn="l">
              <a:lnSpc>
                <a:spcPct val="150000"/>
              </a:lnSpc>
              <a:spcBef>
                <a:spcPts val="0"/>
              </a:spcBef>
              <a:spcAft>
                <a:spcPts val="0"/>
              </a:spcAft>
              <a:buSzPts val="1300"/>
              <a:buAutoNum type="arabicPeriod"/>
            </a:pPr>
            <a:r>
              <a:rPr lang="pt-PT">
                <a:latin typeface="Raleway"/>
                <a:ea typeface="Raleway"/>
                <a:cs typeface="Raleway"/>
                <a:sym typeface="Raleway"/>
              </a:rPr>
              <a:t>Create A </a:t>
            </a:r>
            <a:r>
              <a:rPr b="1" lang="pt-PT">
                <a:latin typeface="Raleway"/>
                <a:ea typeface="Raleway"/>
                <a:cs typeface="Raleway"/>
                <a:sym typeface="Raleway"/>
              </a:rPr>
              <a:t>Social Network For User’s Do Develop </a:t>
            </a:r>
            <a:r>
              <a:rPr lang="pt-PT">
                <a:latin typeface="Raleway"/>
                <a:ea typeface="Raleway"/>
                <a:cs typeface="Raleway"/>
                <a:sym typeface="Raleway"/>
              </a:rPr>
              <a:t>Their Capabilities And Improve Their Performance</a:t>
            </a:r>
            <a:endParaRPr>
              <a:latin typeface="Raleway"/>
              <a:ea typeface="Raleway"/>
              <a:cs typeface="Raleway"/>
              <a:sym typeface="Raleway"/>
            </a:endParaRPr>
          </a:p>
          <a:p>
            <a:pPr indent="0" lvl="0" marL="0" rtl="0" algn="l">
              <a:spcBef>
                <a:spcPts val="1600"/>
              </a:spcBef>
              <a:spcAft>
                <a:spcPts val="1600"/>
              </a:spcAft>
              <a:buNone/>
            </a:pPr>
            <a:r>
              <a:t/>
            </a:r>
            <a:endParaRPr/>
          </a:p>
        </p:txBody>
      </p:sp>
      <p:pic>
        <p:nvPicPr>
          <p:cNvPr id="102" name="Google Shape;102;p15"/>
          <p:cNvPicPr preferRelativeResize="0"/>
          <p:nvPr/>
        </p:nvPicPr>
        <p:blipFill>
          <a:blip r:embed="rId3">
            <a:alphaModFix/>
          </a:blip>
          <a:stretch>
            <a:fillRect/>
          </a:stretch>
        </p:blipFill>
        <p:spPr>
          <a:xfrm rot="-1250441">
            <a:off x="5175425" y="2839075"/>
            <a:ext cx="1448851" cy="1448851"/>
          </a:xfrm>
          <a:prstGeom prst="rect">
            <a:avLst/>
          </a:prstGeom>
          <a:noFill/>
          <a:ln>
            <a:noFill/>
          </a:ln>
        </p:spPr>
      </p:pic>
      <p:pic>
        <p:nvPicPr>
          <p:cNvPr id="103" name="Google Shape;103;p15"/>
          <p:cNvPicPr preferRelativeResize="0"/>
          <p:nvPr/>
        </p:nvPicPr>
        <p:blipFill>
          <a:blip r:embed="rId4">
            <a:alphaModFix/>
          </a:blip>
          <a:stretch>
            <a:fillRect/>
          </a:stretch>
        </p:blipFill>
        <p:spPr>
          <a:xfrm rot="2332739">
            <a:off x="6822495" y="2718445"/>
            <a:ext cx="1554456" cy="1554456"/>
          </a:xfrm>
          <a:prstGeom prst="rect">
            <a:avLst/>
          </a:prstGeom>
          <a:noFill/>
          <a:ln>
            <a:noFill/>
          </a:ln>
        </p:spPr>
      </p:pic>
      <p:pic>
        <p:nvPicPr>
          <p:cNvPr id="104" name="Google Shape;104;p15"/>
          <p:cNvPicPr preferRelativeResize="0"/>
          <p:nvPr/>
        </p:nvPicPr>
        <p:blipFill>
          <a:blip r:embed="rId5">
            <a:alphaModFix/>
          </a:blip>
          <a:stretch>
            <a:fillRect/>
          </a:stretch>
        </p:blipFill>
        <p:spPr>
          <a:xfrm>
            <a:off x="5898350" y="3085145"/>
            <a:ext cx="1735850" cy="1735850"/>
          </a:xfrm>
          <a:prstGeom prst="rect">
            <a:avLst/>
          </a:prstGeom>
          <a:noFill/>
          <a:ln>
            <a:noFill/>
          </a:ln>
        </p:spPr>
      </p:pic>
      <p:sp>
        <p:nvSpPr>
          <p:cNvPr id="105" name="Google Shape;105;p15"/>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Project Objectives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9" name="Shape 109"/>
        <p:cNvGrpSpPr/>
        <p:nvPr/>
      </p:nvGrpSpPr>
      <p:grpSpPr>
        <a:xfrm>
          <a:off x="0" y="0"/>
          <a:ext cx="0" cy="0"/>
          <a:chOff x="0" y="0"/>
          <a:chExt cx="0" cy="0"/>
        </a:xfrm>
      </p:grpSpPr>
      <p:sp>
        <p:nvSpPr>
          <p:cNvPr id="110" name="Google Shape;110;p16"/>
          <p:cNvSpPr txBox="1"/>
          <p:nvPr>
            <p:ph idx="1" type="body"/>
          </p:nvPr>
        </p:nvSpPr>
        <p:spPr>
          <a:xfrm>
            <a:off x="2714700" y="1752100"/>
            <a:ext cx="5845200" cy="2468400"/>
          </a:xfrm>
          <a:prstGeom prst="rect">
            <a:avLst/>
          </a:prstGeom>
        </p:spPr>
        <p:txBody>
          <a:bodyPr anchorCtr="0" anchor="ctr" bIns="91425" lIns="91425" spcFirstLastPara="1" rIns="91425" wrap="square" tIns="91425">
            <a:noAutofit/>
          </a:bodyPr>
          <a:lstStyle/>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Name:</a:t>
            </a:r>
            <a:r>
              <a:rPr lang="pt-PT">
                <a:latin typeface="Raleway"/>
                <a:ea typeface="Raleway"/>
                <a:cs typeface="Raleway"/>
                <a:sym typeface="Raleway"/>
              </a:rPr>
              <a:t> Fransico Almeida</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Sex:</a:t>
            </a:r>
            <a:r>
              <a:rPr lang="pt-PT">
                <a:latin typeface="Raleway"/>
                <a:ea typeface="Raleway"/>
                <a:cs typeface="Raleway"/>
                <a:sym typeface="Raleway"/>
              </a:rPr>
              <a:t> M</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Age:</a:t>
            </a:r>
            <a:r>
              <a:rPr lang="pt-PT">
                <a:latin typeface="Raleway"/>
                <a:ea typeface="Raleway"/>
                <a:cs typeface="Raleway"/>
                <a:sym typeface="Raleway"/>
              </a:rPr>
              <a:t> 20</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Profession:</a:t>
            </a:r>
            <a:r>
              <a:rPr lang="pt-PT">
                <a:latin typeface="Raleway"/>
                <a:ea typeface="Raleway"/>
                <a:cs typeface="Raleway"/>
                <a:sym typeface="Raleway"/>
              </a:rPr>
              <a:t> University Student</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Backgound:</a:t>
            </a:r>
            <a:r>
              <a:rPr lang="pt-PT">
                <a:latin typeface="Raleway"/>
                <a:ea typeface="Raleway"/>
                <a:cs typeface="Raleway"/>
                <a:sym typeface="Raleway"/>
              </a:rPr>
              <a:t> </a:t>
            </a:r>
            <a:r>
              <a:rPr lang="pt-PT">
                <a:latin typeface="Raleway"/>
                <a:ea typeface="Raleway"/>
                <a:cs typeface="Raleway"/>
                <a:sym typeface="Raleway"/>
              </a:rPr>
              <a:t>Lives in Lista. During semesters lives alone in a department near the University. Francisco usually listens to music during the night, it’s something he loves to do while he studies, because otherwise he thinks the room is too quiet. After some searching he finds Muse-IC.</a:t>
            </a:r>
            <a:endParaRPr>
              <a:latin typeface="Raleway"/>
              <a:ea typeface="Raleway"/>
              <a:cs typeface="Raleway"/>
              <a:sym typeface="Raleway"/>
            </a:endParaRPr>
          </a:p>
        </p:txBody>
      </p:sp>
      <p:pic>
        <p:nvPicPr>
          <p:cNvPr id="111" name="Google Shape;111;p16"/>
          <p:cNvPicPr preferRelativeResize="0"/>
          <p:nvPr/>
        </p:nvPicPr>
        <p:blipFill>
          <a:blip r:embed="rId3">
            <a:alphaModFix/>
          </a:blip>
          <a:stretch>
            <a:fillRect/>
          </a:stretch>
        </p:blipFill>
        <p:spPr>
          <a:xfrm>
            <a:off x="780875" y="1481175"/>
            <a:ext cx="1817900" cy="2070625"/>
          </a:xfrm>
          <a:prstGeom prst="rect">
            <a:avLst/>
          </a:prstGeom>
          <a:noFill/>
          <a:ln>
            <a:noFill/>
          </a:ln>
        </p:spPr>
      </p:pic>
      <p:sp>
        <p:nvSpPr>
          <p:cNvPr id="112" name="Google Shape;112;p16"/>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Personas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6" name="Shape 116"/>
        <p:cNvGrpSpPr/>
        <p:nvPr/>
      </p:nvGrpSpPr>
      <p:grpSpPr>
        <a:xfrm>
          <a:off x="0" y="0"/>
          <a:ext cx="0" cy="0"/>
          <a:chOff x="0" y="0"/>
          <a:chExt cx="0" cy="0"/>
        </a:xfrm>
      </p:grpSpPr>
      <p:sp>
        <p:nvSpPr>
          <p:cNvPr id="117" name="Google Shape;117;p17"/>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Personas</a:t>
            </a:r>
            <a:endParaRPr/>
          </a:p>
        </p:txBody>
      </p:sp>
      <p:sp>
        <p:nvSpPr>
          <p:cNvPr id="118" name="Google Shape;118;p17"/>
          <p:cNvSpPr txBox="1"/>
          <p:nvPr>
            <p:ph idx="1" type="body"/>
          </p:nvPr>
        </p:nvSpPr>
        <p:spPr>
          <a:xfrm>
            <a:off x="2672975" y="1289888"/>
            <a:ext cx="5562300" cy="2793300"/>
          </a:xfrm>
          <a:prstGeom prst="rect">
            <a:avLst/>
          </a:prstGeom>
        </p:spPr>
        <p:txBody>
          <a:bodyPr anchorCtr="0" anchor="ctr" bIns="91425" lIns="91425" spcFirstLastPara="1" rIns="91425" wrap="square" tIns="91425">
            <a:noAutofit/>
          </a:bodyPr>
          <a:lstStyle/>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Name:</a:t>
            </a:r>
            <a:r>
              <a:rPr lang="pt-PT">
                <a:latin typeface="Raleway"/>
                <a:ea typeface="Raleway"/>
                <a:cs typeface="Raleway"/>
                <a:sym typeface="Raleway"/>
              </a:rPr>
              <a:t> Ana Beatriz</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Sex: </a:t>
            </a:r>
            <a:r>
              <a:rPr lang="pt-PT">
                <a:latin typeface="Raleway"/>
                <a:ea typeface="Raleway"/>
                <a:cs typeface="Raleway"/>
                <a:sym typeface="Raleway"/>
              </a:rPr>
              <a:t>F</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Age:</a:t>
            </a:r>
            <a:r>
              <a:rPr lang="pt-PT">
                <a:latin typeface="Raleway"/>
                <a:ea typeface="Raleway"/>
                <a:cs typeface="Raleway"/>
                <a:sym typeface="Raleway"/>
              </a:rPr>
              <a:t> 22</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Profession: </a:t>
            </a:r>
            <a:r>
              <a:rPr lang="pt-PT">
                <a:latin typeface="Raleway"/>
                <a:ea typeface="Raleway"/>
                <a:cs typeface="Raleway"/>
                <a:sym typeface="Raleway"/>
              </a:rPr>
              <a:t>University Student</a:t>
            </a:r>
            <a:endParaRPr>
              <a:latin typeface="Raleway"/>
              <a:ea typeface="Raleway"/>
              <a:cs typeface="Raleway"/>
              <a:sym typeface="Raleway"/>
            </a:endParaRPr>
          </a:p>
          <a:p>
            <a:pPr indent="-311150" lvl="0" marL="457200" rtl="0" algn="l">
              <a:lnSpc>
                <a:spcPct val="150000"/>
              </a:lnSpc>
              <a:spcBef>
                <a:spcPts val="0"/>
              </a:spcBef>
              <a:spcAft>
                <a:spcPts val="0"/>
              </a:spcAft>
              <a:buSzPts val="1300"/>
              <a:buChar char="●"/>
            </a:pPr>
            <a:r>
              <a:rPr b="1" lang="pt-PT">
                <a:latin typeface="Raleway"/>
                <a:ea typeface="Raleway"/>
                <a:cs typeface="Raleway"/>
                <a:sym typeface="Raleway"/>
              </a:rPr>
              <a:t>Backgound: </a:t>
            </a:r>
            <a:r>
              <a:rPr lang="pt-PT">
                <a:solidFill>
                  <a:srgbClr val="666666"/>
                </a:solidFill>
                <a:latin typeface="Raleway"/>
                <a:ea typeface="Raleway"/>
                <a:cs typeface="Raleway"/>
                <a:sym typeface="Raleway"/>
              </a:rPr>
              <a:t>She likes to sing since she was little, everyone says she sings well. After entering college, she started making her music. She wants to share it with everybody, her friend Franscisco suggested that she should try Muse-ic, saying that it was a good way to improve her personal work on the music industry.</a:t>
            </a:r>
            <a:endParaRPr>
              <a:solidFill>
                <a:srgbClr val="666666"/>
              </a:solidFill>
              <a:latin typeface="Raleway"/>
              <a:ea typeface="Raleway"/>
              <a:cs typeface="Raleway"/>
              <a:sym typeface="Raleway"/>
            </a:endParaRPr>
          </a:p>
        </p:txBody>
      </p:sp>
      <p:pic>
        <p:nvPicPr>
          <p:cNvPr id="119" name="Google Shape;119;p17"/>
          <p:cNvPicPr preferRelativeResize="0"/>
          <p:nvPr/>
        </p:nvPicPr>
        <p:blipFill>
          <a:blip r:embed="rId3">
            <a:alphaModFix/>
          </a:blip>
          <a:stretch>
            <a:fillRect/>
          </a:stretch>
        </p:blipFill>
        <p:spPr>
          <a:xfrm>
            <a:off x="800850" y="1528750"/>
            <a:ext cx="1781175" cy="2085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3" name="Shape 123"/>
        <p:cNvGrpSpPr/>
        <p:nvPr/>
      </p:nvGrpSpPr>
      <p:grpSpPr>
        <a:xfrm>
          <a:off x="0" y="0"/>
          <a:ext cx="0" cy="0"/>
          <a:chOff x="0" y="0"/>
          <a:chExt cx="0" cy="0"/>
        </a:xfrm>
      </p:grpSpPr>
      <p:sp>
        <p:nvSpPr>
          <p:cNvPr id="124" name="Google Shape;124;p18"/>
          <p:cNvSpPr txBox="1"/>
          <p:nvPr>
            <p:ph idx="1" type="body"/>
          </p:nvPr>
        </p:nvSpPr>
        <p:spPr>
          <a:xfrm>
            <a:off x="727650" y="1407275"/>
            <a:ext cx="7688700" cy="2261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1600"/>
              </a:spcAft>
              <a:buNone/>
            </a:pPr>
            <a:r>
              <a:rPr lang="pt-PT">
                <a:solidFill>
                  <a:srgbClr val="000000"/>
                </a:solidFill>
                <a:latin typeface="Raleway"/>
                <a:ea typeface="Raleway"/>
                <a:cs typeface="Raleway"/>
                <a:sym typeface="Raleway"/>
              </a:rPr>
              <a:t>Francisco searches the desktop app to listen to music on the Web, and sees Muse-ic, considers it an interesting app that has desired features. He installs the app, creates an account, and starts using it. First of all, he wants to create a new playlist with the name "Estudo", which will contain soft musics to help him concentrate more on the study. He goes to the playlists page, clicks in Add button, writes "</a:t>
            </a:r>
            <a:r>
              <a:rPr lang="pt-PT">
                <a:solidFill>
                  <a:srgbClr val="000000"/>
                </a:solidFill>
                <a:latin typeface="Raleway"/>
                <a:ea typeface="Raleway"/>
                <a:cs typeface="Raleway"/>
                <a:sym typeface="Raleway"/>
              </a:rPr>
              <a:t>Estudo</a:t>
            </a:r>
            <a:r>
              <a:rPr lang="pt-PT">
                <a:solidFill>
                  <a:srgbClr val="000000"/>
                </a:solidFill>
                <a:latin typeface="Raleway"/>
                <a:ea typeface="Raleway"/>
                <a:cs typeface="Raleway"/>
                <a:sym typeface="Raleway"/>
              </a:rPr>
              <a:t>" in the text box and clicks in Create button, so the new playlist is created.</a:t>
            </a:r>
            <a:endParaRPr>
              <a:latin typeface="Raleway"/>
              <a:ea typeface="Raleway"/>
              <a:cs typeface="Raleway"/>
              <a:sym typeface="Raleway"/>
            </a:endParaRPr>
          </a:p>
        </p:txBody>
      </p:sp>
      <p:sp>
        <p:nvSpPr>
          <p:cNvPr id="125" name="Google Shape;125;p18"/>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Scenario for Francisco</a:t>
            </a:r>
            <a:endParaRPr/>
          </a:p>
        </p:txBody>
      </p:sp>
      <p:pic>
        <p:nvPicPr>
          <p:cNvPr id="126" name="Google Shape;126;p18"/>
          <p:cNvPicPr preferRelativeResize="0"/>
          <p:nvPr/>
        </p:nvPicPr>
        <p:blipFill>
          <a:blip r:embed="rId3">
            <a:alphaModFix/>
          </a:blip>
          <a:stretch>
            <a:fillRect/>
          </a:stretch>
        </p:blipFill>
        <p:spPr>
          <a:xfrm>
            <a:off x="6850700" y="234600"/>
            <a:ext cx="2070773" cy="1164799"/>
          </a:xfrm>
          <a:prstGeom prst="rect">
            <a:avLst/>
          </a:prstGeom>
          <a:noFill/>
          <a:ln>
            <a:noFill/>
          </a:ln>
        </p:spPr>
      </p:pic>
      <p:pic>
        <p:nvPicPr>
          <p:cNvPr id="127" name="Google Shape;127;p18"/>
          <p:cNvPicPr preferRelativeResize="0"/>
          <p:nvPr/>
        </p:nvPicPr>
        <p:blipFill>
          <a:blip r:embed="rId4">
            <a:alphaModFix/>
          </a:blip>
          <a:stretch>
            <a:fillRect/>
          </a:stretch>
        </p:blipFill>
        <p:spPr>
          <a:xfrm>
            <a:off x="40400" y="3296250"/>
            <a:ext cx="9063176" cy="17019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solidFill>
                  <a:srgbClr val="000000"/>
                </a:solidFill>
              </a:rPr>
              <a:t>Scenario for Ana</a:t>
            </a:r>
            <a:endParaRPr/>
          </a:p>
        </p:txBody>
      </p:sp>
      <p:sp>
        <p:nvSpPr>
          <p:cNvPr id="133" name="Google Shape;133;p19"/>
          <p:cNvSpPr txBox="1"/>
          <p:nvPr/>
        </p:nvSpPr>
        <p:spPr>
          <a:xfrm>
            <a:off x="781850" y="1389175"/>
            <a:ext cx="7243800" cy="2133600"/>
          </a:xfrm>
          <a:prstGeom prst="rect">
            <a:avLst/>
          </a:prstGeom>
          <a:noFill/>
          <a:ln>
            <a:noFill/>
          </a:ln>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pt-PT" sz="1300">
                <a:latin typeface="Raleway"/>
                <a:ea typeface="Raleway"/>
                <a:cs typeface="Raleway"/>
                <a:sym typeface="Raleway"/>
              </a:rPr>
              <a:t>Her friend Francisco said that he had started listening to music on Muse-IC, and suggested that he could also use it to share her musics on the net. She accepted the suggestion. She installs the app, creates an account, clicks the Upload button, chooses the previously recorded song that she thinks is the best of all and an image for cover, fills in the necessary information for the music, and at the end, clicks the Upload button to finish. The </a:t>
            </a:r>
            <a:r>
              <a:rPr lang="pt-PT" sz="1300">
                <a:latin typeface="Raleway"/>
                <a:ea typeface="Raleway"/>
                <a:cs typeface="Raleway"/>
                <a:sym typeface="Raleway"/>
              </a:rPr>
              <a:t>music </a:t>
            </a:r>
            <a:r>
              <a:rPr lang="pt-PT" sz="1300">
                <a:latin typeface="Raleway"/>
                <a:ea typeface="Raleway"/>
                <a:cs typeface="Raleway"/>
                <a:sym typeface="Raleway"/>
              </a:rPr>
              <a:t>appears in the Uploaded list.</a:t>
            </a:r>
            <a:endParaRPr sz="1300">
              <a:latin typeface="Raleway"/>
              <a:ea typeface="Raleway"/>
              <a:cs typeface="Raleway"/>
              <a:sym typeface="Raleway"/>
            </a:endParaRPr>
          </a:p>
        </p:txBody>
      </p:sp>
      <p:pic>
        <p:nvPicPr>
          <p:cNvPr id="134" name="Google Shape;134;p19"/>
          <p:cNvPicPr preferRelativeResize="0"/>
          <p:nvPr/>
        </p:nvPicPr>
        <p:blipFill>
          <a:blip r:embed="rId3">
            <a:alphaModFix/>
          </a:blip>
          <a:stretch>
            <a:fillRect/>
          </a:stretch>
        </p:blipFill>
        <p:spPr>
          <a:xfrm>
            <a:off x="6937100" y="292199"/>
            <a:ext cx="1917173" cy="1078399"/>
          </a:xfrm>
          <a:prstGeom prst="rect">
            <a:avLst/>
          </a:prstGeom>
          <a:noFill/>
          <a:ln>
            <a:noFill/>
          </a:ln>
        </p:spPr>
      </p:pic>
      <p:pic>
        <p:nvPicPr>
          <p:cNvPr id="135" name="Google Shape;135;p19"/>
          <p:cNvPicPr preferRelativeResize="0"/>
          <p:nvPr/>
        </p:nvPicPr>
        <p:blipFill>
          <a:blip r:embed="rId4">
            <a:alphaModFix/>
          </a:blip>
          <a:stretch>
            <a:fillRect/>
          </a:stretch>
        </p:blipFill>
        <p:spPr>
          <a:xfrm>
            <a:off x="313800" y="3224650"/>
            <a:ext cx="8516399" cy="18054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9" name="Shape 139"/>
        <p:cNvGrpSpPr/>
        <p:nvPr/>
      </p:nvGrpSpPr>
      <p:grpSpPr>
        <a:xfrm>
          <a:off x="0" y="0"/>
          <a:ext cx="0" cy="0"/>
          <a:chOff x="0" y="0"/>
          <a:chExt cx="0" cy="0"/>
        </a:xfrm>
      </p:grpSpPr>
      <p:sp>
        <p:nvSpPr>
          <p:cNvPr id="140" name="Google Shape;140;p20"/>
          <p:cNvSpPr txBox="1"/>
          <p:nvPr>
            <p:ph idx="1" type="body"/>
          </p:nvPr>
        </p:nvSpPr>
        <p:spPr>
          <a:xfrm>
            <a:off x="721225" y="1621525"/>
            <a:ext cx="3434700" cy="22611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pt-PT">
                <a:solidFill>
                  <a:srgbClr val="000000"/>
                </a:solidFill>
                <a:latin typeface="Raleway"/>
                <a:ea typeface="Raleway"/>
                <a:cs typeface="Raleway"/>
                <a:sym typeface="Raleway"/>
              </a:rPr>
              <a:t>Non-functional requirements:</a:t>
            </a:r>
            <a:endParaRPr b="1">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SzPts val="1300"/>
              <a:buFont typeface="Raleway"/>
              <a:buChar char="●"/>
            </a:pPr>
            <a:r>
              <a:rPr lang="pt-PT">
                <a:solidFill>
                  <a:srgbClr val="000000"/>
                </a:solidFill>
                <a:latin typeface="Raleway"/>
                <a:ea typeface="Raleway"/>
                <a:cs typeface="Raleway"/>
                <a:sym typeface="Raleway"/>
              </a:rPr>
              <a:t>Menu ‘help and documentation’</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SzPts val="1300"/>
              <a:buFont typeface="Raleway"/>
              <a:buChar char="●"/>
            </a:pPr>
            <a:r>
              <a:rPr lang="pt-PT">
                <a:solidFill>
                  <a:srgbClr val="000000"/>
                </a:solidFill>
                <a:latin typeface="Raleway"/>
                <a:ea typeface="Raleway"/>
                <a:cs typeface="Raleway"/>
                <a:sym typeface="Raleway"/>
              </a:rPr>
              <a:t>Using global symbols, for example '+' to add</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Easy to use</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Desktop app for windows</a:t>
            </a:r>
            <a:endParaRPr>
              <a:latin typeface="Raleway"/>
              <a:ea typeface="Raleway"/>
              <a:cs typeface="Raleway"/>
              <a:sym typeface="Raleway"/>
            </a:endParaRPr>
          </a:p>
        </p:txBody>
      </p:sp>
      <p:sp>
        <p:nvSpPr>
          <p:cNvPr id="141" name="Google Shape;141;p20"/>
          <p:cNvSpPr txBox="1"/>
          <p:nvPr/>
        </p:nvSpPr>
        <p:spPr>
          <a:xfrm>
            <a:off x="4894050" y="1581175"/>
            <a:ext cx="3173400" cy="2261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pt-PT" sz="1300">
                <a:latin typeface="Raleway"/>
                <a:ea typeface="Raleway"/>
                <a:cs typeface="Raleway"/>
                <a:sym typeface="Raleway"/>
              </a:rPr>
              <a:t>Functional Requirements/ App Features:</a:t>
            </a:r>
            <a:endParaRPr b="1" sz="1300">
              <a:latin typeface="Raleway"/>
              <a:ea typeface="Raleway"/>
              <a:cs typeface="Raleway"/>
              <a:sym typeface="Raleway"/>
            </a:endParaRPr>
          </a:p>
          <a:p>
            <a:pPr indent="-323850" lvl="0" marL="457200" rtl="0" algn="l">
              <a:lnSpc>
                <a:spcPct val="115000"/>
              </a:lnSpc>
              <a:spcBef>
                <a:spcPts val="0"/>
              </a:spcBef>
              <a:spcAft>
                <a:spcPts val="0"/>
              </a:spcAft>
              <a:buClr>
                <a:srgbClr val="595959"/>
              </a:buClr>
              <a:buSzPts val="1500"/>
              <a:buFont typeface="Raleway"/>
              <a:buChar char="●"/>
            </a:pPr>
            <a:r>
              <a:rPr lang="pt-PT" sz="1300">
                <a:latin typeface="Raleway"/>
                <a:ea typeface="Raleway"/>
                <a:cs typeface="Raleway"/>
                <a:sym typeface="Raleway"/>
              </a:rPr>
              <a:t>Play music</a:t>
            </a:r>
            <a:endParaRPr sz="1300">
              <a:latin typeface="Raleway"/>
              <a:ea typeface="Raleway"/>
              <a:cs typeface="Raleway"/>
              <a:sym typeface="Raleway"/>
            </a:endParaRPr>
          </a:p>
          <a:p>
            <a:pPr indent="-323850" lvl="0" marL="457200" rtl="0" algn="l">
              <a:lnSpc>
                <a:spcPct val="115000"/>
              </a:lnSpc>
              <a:spcBef>
                <a:spcPts val="0"/>
              </a:spcBef>
              <a:spcAft>
                <a:spcPts val="0"/>
              </a:spcAft>
              <a:buClr>
                <a:srgbClr val="595959"/>
              </a:buClr>
              <a:buSzPts val="1500"/>
              <a:buFont typeface="Raleway"/>
              <a:buChar char="●"/>
            </a:pPr>
            <a:r>
              <a:rPr lang="pt-PT" sz="1300">
                <a:latin typeface="Raleway"/>
                <a:ea typeface="Raleway"/>
                <a:cs typeface="Raleway"/>
                <a:sym typeface="Raleway"/>
              </a:rPr>
              <a:t>Follow artist</a:t>
            </a:r>
            <a:endParaRPr sz="1300">
              <a:latin typeface="Raleway"/>
              <a:ea typeface="Raleway"/>
              <a:cs typeface="Raleway"/>
              <a:sym typeface="Raleway"/>
            </a:endParaRPr>
          </a:p>
          <a:p>
            <a:pPr indent="-311150" lvl="0" marL="457200" rtl="0" algn="l">
              <a:lnSpc>
                <a:spcPct val="115000"/>
              </a:lnSpc>
              <a:spcBef>
                <a:spcPts val="0"/>
              </a:spcBef>
              <a:spcAft>
                <a:spcPts val="0"/>
              </a:spcAft>
              <a:buClr>
                <a:srgbClr val="000000"/>
              </a:buClr>
              <a:buSzPts val="1300"/>
              <a:buFont typeface="Raleway"/>
              <a:buChar char="●"/>
            </a:pPr>
            <a:r>
              <a:rPr lang="pt-PT" sz="1300">
                <a:latin typeface="Raleway"/>
                <a:ea typeface="Raleway"/>
                <a:cs typeface="Raleway"/>
                <a:sym typeface="Raleway"/>
              </a:rPr>
              <a:t>Like/Review</a:t>
            </a:r>
            <a:endParaRPr sz="1300">
              <a:latin typeface="Raleway"/>
              <a:ea typeface="Raleway"/>
              <a:cs typeface="Raleway"/>
              <a:sym typeface="Raleway"/>
            </a:endParaRPr>
          </a:p>
          <a:p>
            <a:pPr indent="-311150" lvl="0" marL="457200" rtl="0" algn="l">
              <a:lnSpc>
                <a:spcPct val="115000"/>
              </a:lnSpc>
              <a:spcBef>
                <a:spcPts val="0"/>
              </a:spcBef>
              <a:spcAft>
                <a:spcPts val="0"/>
              </a:spcAft>
              <a:buClr>
                <a:srgbClr val="000000"/>
              </a:buClr>
              <a:buSzPts val="1300"/>
              <a:buFont typeface="Raleway"/>
              <a:buChar char="●"/>
            </a:pPr>
            <a:r>
              <a:rPr lang="pt-PT" sz="1300">
                <a:latin typeface="Raleway"/>
                <a:ea typeface="Raleway"/>
                <a:cs typeface="Raleway"/>
                <a:sym typeface="Raleway"/>
              </a:rPr>
              <a:t>Playlists</a:t>
            </a:r>
            <a:endParaRPr sz="1300">
              <a:latin typeface="Raleway"/>
              <a:ea typeface="Raleway"/>
              <a:cs typeface="Raleway"/>
              <a:sym typeface="Raleway"/>
            </a:endParaRPr>
          </a:p>
          <a:p>
            <a:pPr indent="-323850" lvl="0" marL="457200" rtl="0" algn="l">
              <a:lnSpc>
                <a:spcPct val="115000"/>
              </a:lnSpc>
              <a:spcBef>
                <a:spcPts val="0"/>
              </a:spcBef>
              <a:spcAft>
                <a:spcPts val="0"/>
              </a:spcAft>
              <a:buClr>
                <a:srgbClr val="595959"/>
              </a:buClr>
              <a:buSzPts val="1500"/>
              <a:buFont typeface="Raleway"/>
              <a:buChar char="●"/>
            </a:pPr>
            <a:r>
              <a:rPr lang="pt-PT" sz="1300">
                <a:latin typeface="Raleway"/>
                <a:ea typeface="Raleway"/>
                <a:cs typeface="Raleway"/>
                <a:sym typeface="Raleway"/>
              </a:rPr>
              <a:t>F</a:t>
            </a:r>
            <a:r>
              <a:rPr lang="pt-PT" sz="1300">
                <a:latin typeface="Raleway"/>
                <a:ea typeface="Raleway"/>
                <a:cs typeface="Raleway"/>
                <a:sym typeface="Raleway"/>
              </a:rPr>
              <a:t>avourites</a:t>
            </a:r>
            <a:endParaRPr sz="1300">
              <a:latin typeface="Raleway"/>
              <a:ea typeface="Raleway"/>
              <a:cs typeface="Raleway"/>
              <a:sym typeface="Raleway"/>
            </a:endParaRPr>
          </a:p>
          <a:p>
            <a:pPr indent="-311150" lvl="0" marL="457200" rtl="0" algn="l">
              <a:lnSpc>
                <a:spcPct val="115000"/>
              </a:lnSpc>
              <a:spcBef>
                <a:spcPts val="0"/>
              </a:spcBef>
              <a:spcAft>
                <a:spcPts val="0"/>
              </a:spcAft>
              <a:buClr>
                <a:srgbClr val="595959"/>
              </a:buClr>
              <a:buSzPts val="1300"/>
              <a:buFont typeface="Raleway"/>
              <a:buChar char="●"/>
            </a:pPr>
            <a:r>
              <a:rPr lang="pt-PT" sz="1300">
                <a:latin typeface="Raleway"/>
                <a:ea typeface="Raleway"/>
                <a:cs typeface="Raleway"/>
                <a:sym typeface="Raleway"/>
              </a:rPr>
              <a:t>etc.</a:t>
            </a:r>
            <a:endParaRPr sz="1300">
              <a:latin typeface="Raleway"/>
              <a:ea typeface="Raleway"/>
              <a:cs typeface="Raleway"/>
              <a:sym typeface="Raleway"/>
            </a:endParaRPr>
          </a:p>
          <a:p>
            <a:pPr indent="0" lvl="0" marL="457200" rtl="0" algn="l">
              <a:lnSpc>
                <a:spcPct val="115000"/>
              </a:lnSpc>
              <a:spcBef>
                <a:spcPts val="0"/>
              </a:spcBef>
              <a:spcAft>
                <a:spcPts val="0"/>
              </a:spcAft>
              <a:buNone/>
            </a:pPr>
            <a:r>
              <a:t/>
            </a:r>
            <a:endParaRPr sz="1300">
              <a:solidFill>
                <a:srgbClr val="595959"/>
              </a:solidFill>
              <a:latin typeface="Lato"/>
              <a:ea typeface="Lato"/>
              <a:cs typeface="Lato"/>
              <a:sym typeface="Lato"/>
            </a:endParaRPr>
          </a:p>
        </p:txBody>
      </p:sp>
      <p:sp>
        <p:nvSpPr>
          <p:cNvPr id="142" name="Google Shape;142;p20"/>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Requirements</a:t>
            </a:r>
            <a:endParaRPr/>
          </a:p>
        </p:txBody>
      </p:sp>
      <p:pic>
        <p:nvPicPr>
          <p:cNvPr id="143" name="Google Shape;143;p20"/>
          <p:cNvPicPr preferRelativeResize="0"/>
          <p:nvPr/>
        </p:nvPicPr>
        <p:blipFill>
          <a:blip r:embed="rId3">
            <a:alphaModFix/>
          </a:blip>
          <a:stretch>
            <a:fillRect/>
          </a:stretch>
        </p:blipFill>
        <p:spPr>
          <a:xfrm>
            <a:off x="6357575" y="3270175"/>
            <a:ext cx="2413549" cy="14953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7" name="Shape 147"/>
        <p:cNvGrpSpPr/>
        <p:nvPr/>
      </p:nvGrpSpPr>
      <p:grpSpPr>
        <a:xfrm>
          <a:off x="0" y="0"/>
          <a:ext cx="0" cy="0"/>
          <a:chOff x="0" y="0"/>
          <a:chExt cx="0" cy="0"/>
        </a:xfrm>
      </p:grpSpPr>
      <p:pic>
        <p:nvPicPr>
          <p:cNvPr id="148" name="Google Shape;148;p21"/>
          <p:cNvPicPr preferRelativeResize="0"/>
          <p:nvPr/>
        </p:nvPicPr>
        <p:blipFill>
          <a:blip r:embed="rId3">
            <a:alphaModFix/>
          </a:blip>
          <a:stretch>
            <a:fillRect/>
          </a:stretch>
        </p:blipFill>
        <p:spPr>
          <a:xfrm>
            <a:off x="6351025" y="1243700"/>
            <a:ext cx="723900" cy="723900"/>
          </a:xfrm>
          <a:prstGeom prst="rect">
            <a:avLst/>
          </a:prstGeom>
          <a:noFill/>
          <a:ln>
            <a:noFill/>
          </a:ln>
        </p:spPr>
      </p:pic>
      <p:sp>
        <p:nvSpPr>
          <p:cNvPr id="149" name="Google Shape;149;p21"/>
          <p:cNvSpPr txBox="1"/>
          <p:nvPr/>
        </p:nvSpPr>
        <p:spPr>
          <a:xfrm>
            <a:off x="688025" y="1329800"/>
            <a:ext cx="5483100" cy="637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sz="1300">
                <a:latin typeface="Raleway"/>
                <a:ea typeface="Raleway"/>
                <a:cs typeface="Raleway"/>
                <a:sym typeface="Raleway"/>
              </a:rPr>
              <a:t>For our prototype we used an app called </a:t>
            </a:r>
            <a:r>
              <a:rPr b="1" lang="pt-PT" sz="1300">
                <a:latin typeface="Raleway"/>
                <a:ea typeface="Raleway"/>
                <a:cs typeface="Raleway"/>
                <a:sym typeface="Raleway"/>
              </a:rPr>
              <a:t>Balsamiq</a:t>
            </a:r>
            <a:r>
              <a:rPr lang="pt-PT" sz="1300">
                <a:latin typeface="Raleway"/>
                <a:ea typeface="Raleway"/>
                <a:cs typeface="Raleway"/>
                <a:sym typeface="Raleway"/>
              </a:rPr>
              <a:t>, which we considered to be a good choice according to what we pretended to develop</a:t>
            </a:r>
            <a:endParaRPr sz="1300">
              <a:latin typeface="Raleway"/>
              <a:ea typeface="Raleway"/>
              <a:cs typeface="Raleway"/>
              <a:sym typeface="Raleway"/>
            </a:endParaRPr>
          </a:p>
        </p:txBody>
      </p:sp>
      <p:sp>
        <p:nvSpPr>
          <p:cNvPr id="150" name="Google Shape;150;p21"/>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Low Fidelity Prototype</a:t>
            </a:r>
            <a:endParaRPr>
              <a:solidFill>
                <a:srgbClr val="000000"/>
              </a:solidFill>
              <a:latin typeface="Arial"/>
              <a:ea typeface="Arial"/>
              <a:cs typeface="Arial"/>
              <a:sym typeface="Arial"/>
            </a:endParaRPr>
          </a:p>
          <a:p>
            <a:pPr indent="0" lvl="0" marL="0" rtl="0" algn="l">
              <a:lnSpc>
                <a:spcPct val="115000"/>
              </a:lnSpc>
              <a:spcBef>
                <a:spcPts val="0"/>
              </a:spcBef>
              <a:spcAft>
                <a:spcPts val="0"/>
              </a:spcAft>
              <a:buNone/>
            </a:pPr>
            <a:r>
              <a:t/>
            </a:r>
            <a:endParaRPr>
              <a:solidFill>
                <a:srgbClr val="000000"/>
              </a:solidFill>
              <a:latin typeface="Arial"/>
              <a:ea typeface="Arial"/>
              <a:cs typeface="Arial"/>
              <a:sym typeface="Arial"/>
            </a:endParaRPr>
          </a:p>
        </p:txBody>
      </p:sp>
      <p:pic>
        <p:nvPicPr>
          <p:cNvPr id="151" name="Google Shape;151;p21"/>
          <p:cNvPicPr preferRelativeResize="0"/>
          <p:nvPr/>
        </p:nvPicPr>
        <p:blipFill>
          <a:blip r:embed="rId4">
            <a:alphaModFix/>
          </a:blip>
          <a:stretch>
            <a:fillRect/>
          </a:stretch>
        </p:blipFill>
        <p:spPr>
          <a:xfrm>
            <a:off x="788875" y="2432871"/>
            <a:ext cx="3582629" cy="2462553"/>
          </a:xfrm>
          <a:prstGeom prst="rect">
            <a:avLst/>
          </a:prstGeom>
          <a:noFill/>
          <a:ln>
            <a:noFill/>
          </a:ln>
        </p:spPr>
      </p:pic>
      <p:sp>
        <p:nvSpPr>
          <p:cNvPr id="152" name="Google Shape;152;p21"/>
          <p:cNvSpPr txBox="1"/>
          <p:nvPr/>
        </p:nvSpPr>
        <p:spPr>
          <a:xfrm>
            <a:off x="1868135" y="2043713"/>
            <a:ext cx="1530000" cy="2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pt-PT">
                <a:latin typeface="Lato"/>
                <a:ea typeface="Lato"/>
                <a:cs typeface="Lato"/>
                <a:sym typeface="Lato"/>
              </a:rPr>
              <a:t>Upload a music</a:t>
            </a:r>
            <a:endParaRPr>
              <a:latin typeface="Lato"/>
              <a:ea typeface="Lato"/>
              <a:cs typeface="Lato"/>
              <a:sym typeface="Lato"/>
            </a:endParaRPr>
          </a:p>
          <a:p>
            <a:pPr indent="0" lvl="0" marL="0" rtl="0" algn="l">
              <a:spcBef>
                <a:spcPts val="0"/>
              </a:spcBef>
              <a:spcAft>
                <a:spcPts val="0"/>
              </a:spcAft>
              <a:buNone/>
            </a:pPr>
            <a:r>
              <a:t/>
            </a:r>
            <a:endParaRPr>
              <a:latin typeface="Lato"/>
              <a:ea typeface="Lato"/>
              <a:cs typeface="Lato"/>
              <a:sym typeface="Lato"/>
            </a:endParaRPr>
          </a:p>
        </p:txBody>
      </p:sp>
      <p:pic>
        <p:nvPicPr>
          <p:cNvPr id="153" name="Google Shape;153;p21"/>
          <p:cNvPicPr preferRelativeResize="0"/>
          <p:nvPr/>
        </p:nvPicPr>
        <p:blipFill>
          <a:blip r:embed="rId5">
            <a:alphaModFix/>
          </a:blip>
          <a:stretch>
            <a:fillRect/>
          </a:stretch>
        </p:blipFill>
        <p:spPr>
          <a:xfrm>
            <a:off x="4853971" y="2459629"/>
            <a:ext cx="3623604" cy="2348648"/>
          </a:xfrm>
          <a:prstGeom prst="rect">
            <a:avLst/>
          </a:prstGeom>
          <a:noFill/>
          <a:ln>
            <a:noFill/>
          </a:ln>
        </p:spPr>
      </p:pic>
      <p:sp>
        <p:nvSpPr>
          <p:cNvPr id="154" name="Google Shape;154;p21"/>
          <p:cNvSpPr txBox="1"/>
          <p:nvPr/>
        </p:nvSpPr>
        <p:spPr>
          <a:xfrm>
            <a:off x="5721013" y="2057083"/>
            <a:ext cx="1983900" cy="22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pt-PT">
                <a:latin typeface="Lato"/>
                <a:ea typeface="Lato"/>
                <a:cs typeface="Lato"/>
                <a:sym typeface="Lato"/>
              </a:rPr>
              <a:t>Create new PlayList</a:t>
            </a:r>
            <a:endParaRPr>
              <a:latin typeface="Lato"/>
              <a:ea typeface="Lato"/>
              <a:cs typeface="Lato"/>
              <a:sym typeface="Lato"/>
            </a:endParaRPr>
          </a:p>
          <a:p>
            <a:pPr indent="0" lvl="0" marL="0" rtl="0" algn="l">
              <a:spcBef>
                <a:spcPts val="0"/>
              </a:spcBef>
              <a:spcAft>
                <a:spcPts val="0"/>
              </a:spcAft>
              <a:buNone/>
            </a:pPr>
            <a:r>
              <a:t/>
            </a:r>
            <a:endParaRPr>
              <a:latin typeface="Lato"/>
              <a:ea typeface="Lato"/>
              <a:cs typeface="Lato"/>
              <a:sym typeface="Lato"/>
            </a:endParaRPr>
          </a:p>
        </p:txBody>
      </p:sp>
      <p:pic>
        <p:nvPicPr>
          <p:cNvPr id="155" name="Google Shape;155;p21"/>
          <p:cNvPicPr preferRelativeResize="0"/>
          <p:nvPr/>
        </p:nvPicPr>
        <p:blipFill>
          <a:blip r:embed="rId4">
            <a:alphaModFix/>
          </a:blip>
          <a:stretch>
            <a:fillRect/>
          </a:stretch>
        </p:blipFill>
        <p:spPr>
          <a:xfrm>
            <a:off x="788875" y="2382876"/>
            <a:ext cx="3582629" cy="2462553"/>
          </a:xfrm>
          <a:prstGeom prst="rect">
            <a:avLst/>
          </a:prstGeom>
          <a:noFill/>
          <a:ln>
            <a:noFill/>
          </a:ln>
        </p:spPr>
      </p:pic>
      <p:pic>
        <p:nvPicPr>
          <p:cNvPr id="156" name="Google Shape;156;p21"/>
          <p:cNvPicPr preferRelativeResize="0"/>
          <p:nvPr/>
        </p:nvPicPr>
        <p:blipFill>
          <a:blip r:embed="rId5">
            <a:alphaModFix/>
          </a:blip>
          <a:stretch>
            <a:fillRect/>
          </a:stretch>
        </p:blipFill>
        <p:spPr>
          <a:xfrm>
            <a:off x="4853971" y="2409633"/>
            <a:ext cx="3623604" cy="2348648"/>
          </a:xfrm>
          <a:prstGeom prst="rect">
            <a:avLst/>
          </a:prstGeom>
          <a:noFill/>
          <a:ln>
            <a:noFill/>
          </a:ln>
        </p:spPr>
      </p:pic>
      <p:pic>
        <p:nvPicPr>
          <p:cNvPr id="157" name="Google Shape;157;p21"/>
          <p:cNvPicPr preferRelativeResize="0"/>
          <p:nvPr/>
        </p:nvPicPr>
        <p:blipFill>
          <a:blip r:embed="rId4">
            <a:alphaModFix/>
          </a:blip>
          <a:stretch>
            <a:fillRect/>
          </a:stretch>
        </p:blipFill>
        <p:spPr>
          <a:xfrm>
            <a:off x="788875" y="2345723"/>
            <a:ext cx="3582629" cy="2462553"/>
          </a:xfrm>
          <a:prstGeom prst="rect">
            <a:avLst/>
          </a:prstGeom>
          <a:noFill/>
          <a:ln>
            <a:noFill/>
          </a:ln>
        </p:spPr>
      </p:pic>
      <p:pic>
        <p:nvPicPr>
          <p:cNvPr id="158" name="Google Shape;158;p21"/>
          <p:cNvPicPr preferRelativeResize="0"/>
          <p:nvPr/>
        </p:nvPicPr>
        <p:blipFill>
          <a:blip r:embed="rId5">
            <a:alphaModFix/>
          </a:blip>
          <a:stretch>
            <a:fillRect/>
          </a:stretch>
        </p:blipFill>
        <p:spPr>
          <a:xfrm>
            <a:off x="4853971" y="2372480"/>
            <a:ext cx="3623604" cy="234864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2" name="Shape 162"/>
        <p:cNvGrpSpPr/>
        <p:nvPr/>
      </p:nvGrpSpPr>
      <p:grpSpPr>
        <a:xfrm>
          <a:off x="0" y="0"/>
          <a:ext cx="0" cy="0"/>
          <a:chOff x="0" y="0"/>
          <a:chExt cx="0" cy="0"/>
        </a:xfrm>
      </p:grpSpPr>
      <p:sp>
        <p:nvSpPr>
          <p:cNvPr id="163" name="Google Shape;163;p22"/>
          <p:cNvSpPr txBox="1"/>
          <p:nvPr>
            <p:ph idx="1" type="body"/>
          </p:nvPr>
        </p:nvSpPr>
        <p:spPr>
          <a:xfrm>
            <a:off x="688025" y="1573500"/>
            <a:ext cx="4239900" cy="185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pt-PT">
                <a:solidFill>
                  <a:srgbClr val="000000"/>
                </a:solidFill>
                <a:latin typeface="Raleway"/>
                <a:ea typeface="Raleway"/>
                <a:cs typeface="Raleway"/>
                <a:sym typeface="Raleway"/>
              </a:rPr>
              <a:t>In this step we want to know:</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we </a:t>
            </a:r>
            <a:r>
              <a:rPr lang="pt-PT">
                <a:solidFill>
                  <a:srgbClr val="000000"/>
                </a:solidFill>
                <a:latin typeface="Raleway"/>
                <a:ea typeface="Raleway"/>
                <a:cs typeface="Raleway"/>
                <a:sym typeface="Raleway"/>
              </a:rPr>
              <a:t>designed </a:t>
            </a:r>
            <a:r>
              <a:rPr lang="pt-PT">
                <a:solidFill>
                  <a:srgbClr val="000000"/>
                </a:solidFill>
                <a:latin typeface="Raleway"/>
                <a:ea typeface="Raleway"/>
                <a:cs typeface="Raleway"/>
                <a:sym typeface="Raleway"/>
              </a:rPr>
              <a:t>the prototype in the correct way?</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we designed what users want?</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we designed a good user interface?</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can user do tasks correctly and easily?</a:t>
            </a:r>
            <a:endParaRPr>
              <a:solidFill>
                <a:srgbClr val="000000"/>
              </a:solidFill>
              <a:latin typeface="Raleway"/>
              <a:ea typeface="Raleway"/>
              <a:cs typeface="Raleway"/>
              <a:sym typeface="Raleway"/>
            </a:endParaRPr>
          </a:p>
          <a:p>
            <a:pPr indent="0" lvl="0" marL="0" rtl="0" algn="l">
              <a:lnSpc>
                <a:spcPct val="150000"/>
              </a:lnSpc>
              <a:spcBef>
                <a:spcPts val="0"/>
              </a:spcBef>
              <a:spcAft>
                <a:spcPts val="0"/>
              </a:spcAft>
              <a:buNone/>
            </a:pPr>
            <a:r>
              <a:t/>
            </a:r>
            <a:endParaRPr>
              <a:solidFill>
                <a:srgbClr val="000000"/>
              </a:solidFill>
              <a:latin typeface="Raleway"/>
              <a:ea typeface="Raleway"/>
              <a:cs typeface="Raleway"/>
              <a:sym typeface="Raleway"/>
            </a:endParaRPr>
          </a:p>
        </p:txBody>
      </p:sp>
      <p:sp>
        <p:nvSpPr>
          <p:cNvPr id="164" name="Google Shape;164;p22"/>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LFP User Evaluation</a:t>
            </a:r>
            <a:endParaRPr>
              <a:solidFill>
                <a:srgbClr val="000000"/>
              </a:solidFill>
              <a:latin typeface="Arial"/>
              <a:ea typeface="Arial"/>
              <a:cs typeface="Arial"/>
              <a:sym typeface="Arial"/>
            </a:endParaRPr>
          </a:p>
        </p:txBody>
      </p:sp>
      <p:pic>
        <p:nvPicPr>
          <p:cNvPr id="165" name="Google Shape;165;p22"/>
          <p:cNvPicPr preferRelativeResize="0"/>
          <p:nvPr/>
        </p:nvPicPr>
        <p:blipFill>
          <a:blip r:embed="rId3">
            <a:alphaModFix/>
          </a:blip>
          <a:stretch>
            <a:fillRect/>
          </a:stretch>
        </p:blipFill>
        <p:spPr>
          <a:xfrm>
            <a:off x="7337963" y="3341250"/>
            <a:ext cx="1758475" cy="1758475"/>
          </a:xfrm>
          <a:prstGeom prst="rect">
            <a:avLst/>
          </a:prstGeom>
          <a:noFill/>
          <a:ln>
            <a:noFill/>
          </a:ln>
        </p:spPr>
      </p:pic>
      <p:sp>
        <p:nvSpPr>
          <p:cNvPr id="166" name="Google Shape;166;p22"/>
          <p:cNvSpPr txBox="1"/>
          <p:nvPr/>
        </p:nvSpPr>
        <p:spPr>
          <a:xfrm>
            <a:off x="4894850" y="1573500"/>
            <a:ext cx="3968100" cy="1996500"/>
          </a:xfrm>
          <a:prstGeom prst="rect">
            <a:avLst/>
          </a:prstGeom>
          <a:noFill/>
          <a:ln>
            <a:noFill/>
          </a:ln>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pt-PT" sz="1300">
                <a:latin typeface="Raleway"/>
                <a:ea typeface="Raleway"/>
                <a:cs typeface="Raleway"/>
                <a:sym typeface="Raleway"/>
              </a:rPr>
              <a:t>Personas and scenarios were addressed:</a:t>
            </a:r>
            <a:endParaRPr sz="1300">
              <a:latin typeface="Raleway"/>
              <a:ea typeface="Raleway"/>
              <a:cs typeface="Raleway"/>
              <a:sym typeface="Raleway"/>
            </a:endParaRPr>
          </a:p>
          <a:p>
            <a:pPr indent="-311150" lvl="0" marL="457200" rtl="0" algn="l">
              <a:lnSpc>
                <a:spcPct val="150000"/>
              </a:lnSpc>
              <a:spcBef>
                <a:spcPts val="0"/>
              </a:spcBef>
              <a:spcAft>
                <a:spcPts val="0"/>
              </a:spcAft>
              <a:buSzPts val="1300"/>
              <a:buFont typeface="Raleway"/>
              <a:buChar char="●"/>
            </a:pPr>
            <a:r>
              <a:rPr lang="pt-PT" sz="1300">
                <a:latin typeface="Raleway"/>
                <a:ea typeface="Raleway"/>
                <a:cs typeface="Raleway"/>
                <a:sym typeface="Raleway"/>
              </a:rPr>
              <a:t>Francisco Almeida</a:t>
            </a:r>
            <a:r>
              <a:rPr lang="pt-PT" sz="1300" u="sng">
                <a:latin typeface="Raleway"/>
                <a:ea typeface="Raleway"/>
                <a:cs typeface="Raleway"/>
                <a:sym typeface="Raleway"/>
              </a:rPr>
              <a:t>			</a:t>
            </a:r>
            <a:r>
              <a:rPr lang="pt-PT" sz="1300">
                <a:latin typeface="Raleway"/>
                <a:ea typeface="Raleway"/>
                <a:cs typeface="Raleway"/>
                <a:sym typeface="Raleway"/>
              </a:rPr>
              <a:t>    </a:t>
            </a:r>
            <a:endParaRPr sz="1300">
              <a:latin typeface="Raleway"/>
              <a:ea typeface="Raleway"/>
              <a:cs typeface="Raleway"/>
              <a:sym typeface="Raleway"/>
            </a:endParaRPr>
          </a:p>
          <a:p>
            <a:pPr indent="-311150" lvl="1" marL="914400" rtl="0" algn="l">
              <a:lnSpc>
                <a:spcPct val="150000"/>
              </a:lnSpc>
              <a:spcBef>
                <a:spcPts val="0"/>
              </a:spcBef>
              <a:spcAft>
                <a:spcPts val="0"/>
              </a:spcAft>
              <a:buSzPts val="1300"/>
              <a:buFont typeface="Raleway"/>
              <a:buChar char="○"/>
            </a:pPr>
            <a:r>
              <a:rPr lang="pt-PT" sz="1300">
                <a:latin typeface="Raleway"/>
                <a:ea typeface="Raleway"/>
                <a:cs typeface="Raleway"/>
                <a:sym typeface="Raleway"/>
              </a:rPr>
              <a:t>Create new PlayList </a:t>
            </a:r>
            <a:r>
              <a:rPr lang="pt-PT" sz="1300" u="sng">
                <a:latin typeface="Raleway"/>
                <a:ea typeface="Raleway"/>
                <a:cs typeface="Raleway"/>
                <a:sym typeface="Raleway"/>
              </a:rPr>
              <a:t>	</a:t>
            </a:r>
            <a:r>
              <a:rPr lang="pt-PT" sz="1300">
                <a:latin typeface="Raleway"/>
                <a:ea typeface="Raleway"/>
                <a:cs typeface="Raleway"/>
                <a:sym typeface="Raleway"/>
              </a:rPr>
              <a:t>               </a:t>
            </a:r>
            <a:endParaRPr sz="1300">
              <a:latin typeface="Raleway"/>
              <a:ea typeface="Raleway"/>
              <a:cs typeface="Raleway"/>
              <a:sym typeface="Raleway"/>
            </a:endParaRPr>
          </a:p>
          <a:p>
            <a:pPr indent="0" lvl="0" marL="914400" rtl="0" algn="l">
              <a:lnSpc>
                <a:spcPct val="150000"/>
              </a:lnSpc>
              <a:spcBef>
                <a:spcPts val="0"/>
              </a:spcBef>
              <a:spcAft>
                <a:spcPts val="0"/>
              </a:spcAft>
              <a:buNone/>
            </a:pPr>
            <a:r>
              <a:t/>
            </a:r>
            <a:endParaRPr sz="1300" u="sng">
              <a:latin typeface="Raleway"/>
              <a:ea typeface="Raleway"/>
              <a:cs typeface="Raleway"/>
              <a:sym typeface="Raleway"/>
            </a:endParaRPr>
          </a:p>
          <a:p>
            <a:pPr indent="-311150" lvl="0" marL="457200" rtl="0" algn="l">
              <a:lnSpc>
                <a:spcPct val="150000"/>
              </a:lnSpc>
              <a:spcBef>
                <a:spcPts val="0"/>
              </a:spcBef>
              <a:spcAft>
                <a:spcPts val="0"/>
              </a:spcAft>
              <a:buSzPts val="1300"/>
              <a:buFont typeface="Raleway"/>
              <a:buChar char="●"/>
            </a:pPr>
            <a:r>
              <a:rPr lang="pt-PT" sz="1300">
                <a:latin typeface="Raleway"/>
                <a:ea typeface="Raleway"/>
                <a:cs typeface="Raleway"/>
                <a:sym typeface="Raleway"/>
              </a:rPr>
              <a:t>Ana Beatriz	</a:t>
            </a:r>
            <a:r>
              <a:rPr lang="pt-PT" sz="1300" u="sng">
                <a:latin typeface="Raleway"/>
                <a:ea typeface="Raleway"/>
                <a:cs typeface="Raleway"/>
                <a:sym typeface="Raleway"/>
              </a:rPr>
              <a:t>			</a:t>
            </a:r>
            <a:r>
              <a:rPr lang="pt-PT" sz="1300">
                <a:latin typeface="Raleway"/>
                <a:ea typeface="Raleway"/>
                <a:cs typeface="Raleway"/>
                <a:sym typeface="Raleway"/>
              </a:rPr>
              <a:t>                </a:t>
            </a:r>
            <a:endParaRPr sz="1300">
              <a:latin typeface="Raleway"/>
              <a:ea typeface="Raleway"/>
              <a:cs typeface="Raleway"/>
              <a:sym typeface="Raleway"/>
            </a:endParaRPr>
          </a:p>
          <a:p>
            <a:pPr indent="-311150" lvl="1" marL="914400" rtl="0" algn="l">
              <a:lnSpc>
                <a:spcPct val="150000"/>
              </a:lnSpc>
              <a:spcBef>
                <a:spcPts val="0"/>
              </a:spcBef>
              <a:spcAft>
                <a:spcPts val="0"/>
              </a:spcAft>
              <a:buSzPts val="1300"/>
              <a:buFont typeface="Raleway"/>
              <a:buChar char="○"/>
            </a:pPr>
            <a:r>
              <a:rPr lang="pt-PT" sz="1300">
                <a:latin typeface="Raleway"/>
                <a:ea typeface="Raleway"/>
                <a:cs typeface="Raleway"/>
                <a:sym typeface="Raleway"/>
              </a:rPr>
              <a:t>Upload a music		                </a:t>
            </a:r>
            <a:endParaRPr sz="1300">
              <a:latin typeface="Raleway"/>
              <a:ea typeface="Raleway"/>
              <a:cs typeface="Raleway"/>
              <a:sym typeface="Raleway"/>
            </a:endParaRPr>
          </a:p>
        </p:txBody>
      </p:sp>
      <p:pic>
        <p:nvPicPr>
          <p:cNvPr id="167" name="Google Shape;167;p22"/>
          <p:cNvPicPr preferRelativeResize="0"/>
          <p:nvPr/>
        </p:nvPicPr>
        <p:blipFill>
          <a:blip r:embed="rId4">
            <a:alphaModFix/>
          </a:blip>
          <a:stretch>
            <a:fillRect/>
          </a:stretch>
        </p:blipFill>
        <p:spPr>
          <a:xfrm>
            <a:off x="8057675" y="2197752"/>
            <a:ext cx="319050" cy="303900"/>
          </a:xfrm>
          <a:prstGeom prst="rect">
            <a:avLst/>
          </a:prstGeom>
          <a:noFill/>
          <a:ln>
            <a:noFill/>
          </a:ln>
        </p:spPr>
      </p:pic>
      <p:pic>
        <p:nvPicPr>
          <p:cNvPr id="168" name="Google Shape;168;p22"/>
          <p:cNvPicPr preferRelativeResize="0"/>
          <p:nvPr/>
        </p:nvPicPr>
        <p:blipFill>
          <a:blip r:embed="rId4">
            <a:alphaModFix/>
          </a:blip>
          <a:stretch>
            <a:fillRect/>
          </a:stretch>
        </p:blipFill>
        <p:spPr>
          <a:xfrm>
            <a:off x="8057675" y="2734927"/>
            <a:ext cx="319050" cy="303900"/>
          </a:xfrm>
          <a:prstGeom prst="rect">
            <a:avLst/>
          </a:prstGeom>
          <a:noFill/>
          <a:ln>
            <a:noFill/>
          </a:ln>
        </p:spPr>
      </p:pic>
      <p:pic>
        <p:nvPicPr>
          <p:cNvPr id="169" name="Google Shape;169;p22"/>
          <p:cNvPicPr preferRelativeResize="0"/>
          <p:nvPr/>
        </p:nvPicPr>
        <p:blipFill>
          <a:blip r:embed="rId4">
            <a:alphaModFix/>
          </a:blip>
          <a:stretch>
            <a:fillRect/>
          </a:stretch>
        </p:blipFill>
        <p:spPr>
          <a:xfrm>
            <a:off x="8057675" y="3076552"/>
            <a:ext cx="319050" cy="303900"/>
          </a:xfrm>
          <a:prstGeom prst="rect">
            <a:avLst/>
          </a:prstGeom>
          <a:noFill/>
          <a:ln>
            <a:noFill/>
          </a:ln>
        </p:spPr>
      </p:pic>
      <p:pic>
        <p:nvPicPr>
          <p:cNvPr id="170" name="Google Shape;170;p22"/>
          <p:cNvPicPr preferRelativeResize="0"/>
          <p:nvPr/>
        </p:nvPicPr>
        <p:blipFill>
          <a:blip r:embed="rId4">
            <a:alphaModFix/>
          </a:blip>
          <a:stretch>
            <a:fillRect/>
          </a:stretch>
        </p:blipFill>
        <p:spPr>
          <a:xfrm>
            <a:off x="8057675" y="1893840"/>
            <a:ext cx="319050" cy="3039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4" name="Shape 174"/>
        <p:cNvGrpSpPr/>
        <p:nvPr/>
      </p:nvGrpSpPr>
      <p:grpSpPr>
        <a:xfrm>
          <a:off x="0" y="0"/>
          <a:ext cx="0" cy="0"/>
          <a:chOff x="0" y="0"/>
          <a:chExt cx="0" cy="0"/>
        </a:xfrm>
      </p:grpSpPr>
      <p:sp>
        <p:nvSpPr>
          <p:cNvPr id="175" name="Google Shape;175;p23"/>
          <p:cNvSpPr txBox="1"/>
          <p:nvPr>
            <p:ph idx="1" type="body"/>
          </p:nvPr>
        </p:nvSpPr>
        <p:spPr>
          <a:xfrm>
            <a:off x="688025" y="1593600"/>
            <a:ext cx="3237900" cy="2979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pt-PT">
                <a:solidFill>
                  <a:srgbClr val="000000"/>
                </a:solidFill>
                <a:latin typeface="Raleway"/>
                <a:ea typeface="Raleway"/>
                <a:cs typeface="Raleway"/>
                <a:sym typeface="Raleway"/>
              </a:rPr>
              <a:t>Tasks used:</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Upload a music</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Find a music and add to a playlist</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Comment on a playlist</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Play one of the uploaded musics</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See musics uploaded by a friend</a:t>
            </a:r>
            <a:endParaRPr>
              <a:solidFill>
                <a:srgbClr val="000000"/>
              </a:solidFill>
              <a:latin typeface="Raleway"/>
              <a:ea typeface="Raleway"/>
              <a:cs typeface="Raleway"/>
              <a:sym typeface="Raleway"/>
            </a:endParaRPr>
          </a:p>
        </p:txBody>
      </p:sp>
      <p:sp>
        <p:nvSpPr>
          <p:cNvPr id="176" name="Google Shape;176;p23"/>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LFP User Evaluation</a:t>
            </a:r>
            <a:endParaRPr>
              <a:solidFill>
                <a:srgbClr val="000000"/>
              </a:solidFill>
              <a:latin typeface="Arial"/>
              <a:ea typeface="Arial"/>
              <a:cs typeface="Arial"/>
              <a:sym typeface="Arial"/>
            </a:endParaRPr>
          </a:p>
        </p:txBody>
      </p:sp>
      <p:pic>
        <p:nvPicPr>
          <p:cNvPr id="177" name="Google Shape;177;p23"/>
          <p:cNvPicPr preferRelativeResize="0"/>
          <p:nvPr/>
        </p:nvPicPr>
        <p:blipFill>
          <a:blip r:embed="rId3">
            <a:alphaModFix/>
          </a:blip>
          <a:stretch>
            <a:fillRect/>
          </a:stretch>
        </p:blipFill>
        <p:spPr>
          <a:xfrm>
            <a:off x="7435825" y="3600825"/>
            <a:ext cx="1542675" cy="1542675"/>
          </a:xfrm>
          <a:prstGeom prst="rect">
            <a:avLst/>
          </a:prstGeom>
          <a:noFill/>
          <a:ln>
            <a:noFill/>
          </a:ln>
        </p:spPr>
      </p:pic>
      <p:sp>
        <p:nvSpPr>
          <p:cNvPr id="178" name="Google Shape;178;p23"/>
          <p:cNvSpPr txBox="1"/>
          <p:nvPr/>
        </p:nvSpPr>
        <p:spPr>
          <a:xfrm>
            <a:off x="4430375" y="1554600"/>
            <a:ext cx="4068600" cy="2034300"/>
          </a:xfrm>
          <a:prstGeom prst="rect">
            <a:avLst/>
          </a:prstGeom>
          <a:noFill/>
          <a:ln>
            <a:noFill/>
          </a:ln>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pt-PT" sz="1300">
                <a:latin typeface="Raleway"/>
                <a:ea typeface="Raleway"/>
                <a:cs typeface="Raleway"/>
                <a:sym typeface="Raleway"/>
              </a:rPr>
              <a:t>We did tests with 4 users who pointed out some aspects that we should improve</a:t>
            </a:r>
            <a:endParaRPr sz="1300">
              <a:latin typeface="Raleway"/>
              <a:ea typeface="Raleway"/>
              <a:cs typeface="Raleway"/>
              <a:sym typeface="Raleway"/>
            </a:endParaRPr>
          </a:p>
          <a:p>
            <a:pPr indent="-311150" lvl="0" marL="457200" rtl="0" algn="l">
              <a:lnSpc>
                <a:spcPct val="150000"/>
              </a:lnSpc>
              <a:spcBef>
                <a:spcPts val="0"/>
              </a:spcBef>
              <a:spcAft>
                <a:spcPts val="0"/>
              </a:spcAft>
              <a:buSzPts val="1300"/>
              <a:buFont typeface="Raleway"/>
              <a:buChar char="●"/>
            </a:pPr>
            <a:r>
              <a:rPr lang="pt-PT" sz="1300">
                <a:latin typeface="Raleway"/>
                <a:ea typeface="Raleway"/>
                <a:cs typeface="Raleway"/>
                <a:sym typeface="Raleway"/>
              </a:rPr>
              <a:t>No alert when an upload is completed</a:t>
            </a:r>
            <a:endParaRPr sz="1300">
              <a:latin typeface="Raleway"/>
              <a:ea typeface="Raleway"/>
              <a:cs typeface="Raleway"/>
              <a:sym typeface="Raleway"/>
            </a:endParaRPr>
          </a:p>
          <a:p>
            <a:pPr indent="-311150" lvl="0" marL="457200" rtl="0" algn="l">
              <a:lnSpc>
                <a:spcPct val="150000"/>
              </a:lnSpc>
              <a:spcBef>
                <a:spcPts val="0"/>
              </a:spcBef>
              <a:spcAft>
                <a:spcPts val="0"/>
              </a:spcAft>
              <a:buSzPts val="1300"/>
              <a:buFont typeface="Raleway"/>
              <a:buChar char="●"/>
            </a:pPr>
            <a:r>
              <a:rPr lang="pt-PT" sz="1300">
                <a:latin typeface="Raleway"/>
                <a:ea typeface="Raleway"/>
                <a:cs typeface="Raleway"/>
                <a:sym typeface="Raleway"/>
              </a:rPr>
              <a:t>Can’t jump to Friend page with click in his photo</a:t>
            </a:r>
            <a:endParaRPr sz="1300">
              <a:latin typeface="Raleway"/>
              <a:ea typeface="Raleway"/>
              <a:cs typeface="Raleway"/>
              <a:sym typeface="Raleway"/>
            </a:endParaRPr>
          </a:p>
          <a:p>
            <a:pPr indent="-311150" lvl="0" marL="457200" rtl="0" algn="l">
              <a:lnSpc>
                <a:spcPct val="150000"/>
              </a:lnSpc>
              <a:spcBef>
                <a:spcPts val="0"/>
              </a:spcBef>
              <a:spcAft>
                <a:spcPts val="0"/>
              </a:spcAft>
              <a:buSzPts val="1300"/>
              <a:buFont typeface="Raleway"/>
              <a:buChar char="●"/>
            </a:pPr>
            <a:r>
              <a:rPr lang="pt-PT" sz="1300">
                <a:latin typeface="Raleway"/>
                <a:ea typeface="Raleway"/>
                <a:cs typeface="Raleway"/>
                <a:sym typeface="Raleway"/>
              </a:rPr>
              <a:t>“MySongs” rather than “MyUploaded”</a:t>
            </a:r>
            <a:endParaRPr sz="1300">
              <a:latin typeface="Raleway"/>
              <a:ea typeface="Raleway"/>
              <a:cs typeface="Raleway"/>
              <a:sym typeface="Raleway"/>
            </a:endParaRPr>
          </a:p>
          <a:p>
            <a:pPr indent="0" lvl="0" marL="457200" rtl="0" algn="l">
              <a:lnSpc>
                <a:spcPct val="150000"/>
              </a:lnSpc>
              <a:spcBef>
                <a:spcPts val="0"/>
              </a:spcBef>
              <a:spcAft>
                <a:spcPts val="0"/>
              </a:spcAft>
              <a:buNone/>
            </a:pPr>
            <a:r>
              <a:t/>
            </a:r>
            <a:endParaRPr sz="1300">
              <a:latin typeface="Raleway"/>
              <a:ea typeface="Raleway"/>
              <a:cs typeface="Raleway"/>
              <a:sym typeface="Raleway"/>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2" name="Shape 182"/>
        <p:cNvGrpSpPr/>
        <p:nvPr/>
      </p:nvGrpSpPr>
      <p:grpSpPr>
        <a:xfrm>
          <a:off x="0" y="0"/>
          <a:ext cx="0" cy="0"/>
          <a:chOff x="0" y="0"/>
          <a:chExt cx="0" cy="0"/>
        </a:xfrm>
      </p:grpSpPr>
      <p:sp>
        <p:nvSpPr>
          <p:cNvPr id="183" name="Google Shape;183;p24"/>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Platform Used for the Functional Prototype</a:t>
            </a:r>
            <a:endParaRPr>
              <a:solidFill>
                <a:srgbClr val="000000"/>
              </a:solidFill>
              <a:latin typeface="Arial"/>
              <a:ea typeface="Arial"/>
              <a:cs typeface="Arial"/>
              <a:sym typeface="Arial"/>
            </a:endParaRPr>
          </a:p>
          <a:p>
            <a:pPr indent="0" lvl="0" marL="0" rtl="0" algn="l">
              <a:lnSpc>
                <a:spcPct val="115000"/>
              </a:lnSpc>
              <a:spcBef>
                <a:spcPts val="0"/>
              </a:spcBef>
              <a:spcAft>
                <a:spcPts val="0"/>
              </a:spcAft>
              <a:buNone/>
            </a:pPr>
            <a:r>
              <a:t/>
            </a:r>
            <a:endParaRPr>
              <a:solidFill>
                <a:srgbClr val="000000"/>
              </a:solidFill>
              <a:latin typeface="Arial"/>
              <a:ea typeface="Arial"/>
              <a:cs typeface="Arial"/>
              <a:sym typeface="Arial"/>
            </a:endParaRPr>
          </a:p>
        </p:txBody>
      </p:sp>
      <p:pic>
        <p:nvPicPr>
          <p:cNvPr id="184" name="Google Shape;184;p24"/>
          <p:cNvPicPr preferRelativeResize="0"/>
          <p:nvPr/>
        </p:nvPicPr>
        <p:blipFill>
          <a:blip r:embed="rId3">
            <a:alphaModFix/>
          </a:blip>
          <a:stretch>
            <a:fillRect/>
          </a:stretch>
        </p:blipFill>
        <p:spPr>
          <a:xfrm>
            <a:off x="6689025" y="1536475"/>
            <a:ext cx="1743075" cy="1647825"/>
          </a:xfrm>
          <a:prstGeom prst="rect">
            <a:avLst/>
          </a:prstGeom>
          <a:noFill/>
          <a:ln>
            <a:noFill/>
          </a:ln>
        </p:spPr>
      </p:pic>
      <p:sp>
        <p:nvSpPr>
          <p:cNvPr id="185" name="Google Shape;185;p24"/>
          <p:cNvSpPr txBox="1"/>
          <p:nvPr/>
        </p:nvSpPr>
        <p:spPr>
          <a:xfrm>
            <a:off x="614300" y="1536475"/>
            <a:ext cx="4732800" cy="11346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SzPts val="1400"/>
              <a:buFont typeface="Raleway"/>
              <a:buChar char="●"/>
            </a:pPr>
            <a:r>
              <a:rPr lang="pt-PT">
                <a:latin typeface="Raleway"/>
                <a:ea typeface="Raleway"/>
                <a:cs typeface="Raleway"/>
                <a:sym typeface="Raleway"/>
              </a:rPr>
              <a:t>Programming language: C#</a:t>
            </a:r>
            <a:endParaRPr>
              <a:latin typeface="Raleway"/>
              <a:ea typeface="Raleway"/>
              <a:cs typeface="Raleway"/>
              <a:sym typeface="Raleway"/>
            </a:endParaRPr>
          </a:p>
          <a:p>
            <a:pPr indent="-317500" lvl="0" marL="457200" rtl="0" algn="l">
              <a:lnSpc>
                <a:spcPct val="150000"/>
              </a:lnSpc>
              <a:spcBef>
                <a:spcPts val="0"/>
              </a:spcBef>
              <a:spcAft>
                <a:spcPts val="0"/>
              </a:spcAft>
              <a:buSzPts val="1400"/>
              <a:buFont typeface="Raleway"/>
              <a:buChar char="●"/>
            </a:pPr>
            <a:r>
              <a:rPr lang="pt-PT">
                <a:latin typeface="Raleway"/>
                <a:ea typeface="Raleway"/>
                <a:cs typeface="Raleway"/>
                <a:sym typeface="Raleway"/>
              </a:rPr>
              <a:t>IDE: Visual Studio</a:t>
            </a:r>
            <a:endParaRPr>
              <a:latin typeface="Raleway"/>
              <a:ea typeface="Raleway"/>
              <a:cs typeface="Raleway"/>
              <a:sym typeface="Raleway"/>
            </a:endParaRPr>
          </a:p>
          <a:p>
            <a:pPr indent="-317500" lvl="0" marL="457200" rtl="0" algn="l">
              <a:lnSpc>
                <a:spcPct val="150000"/>
              </a:lnSpc>
              <a:spcBef>
                <a:spcPts val="0"/>
              </a:spcBef>
              <a:spcAft>
                <a:spcPts val="0"/>
              </a:spcAft>
              <a:buSzPts val="1400"/>
              <a:buFont typeface="Raleway"/>
              <a:buChar char="●"/>
            </a:pPr>
            <a:r>
              <a:rPr lang="pt-PT">
                <a:latin typeface="Raleway"/>
                <a:ea typeface="Raleway"/>
                <a:cs typeface="Raleway"/>
                <a:sym typeface="Raleway"/>
              </a:rPr>
              <a:t>Libraries:  </a:t>
            </a:r>
            <a:endParaRPr>
              <a:latin typeface="Raleway"/>
              <a:ea typeface="Raleway"/>
              <a:cs typeface="Raleway"/>
              <a:sym typeface="Raleway"/>
            </a:endParaRPr>
          </a:p>
          <a:p>
            <a:pPr indent="-317500" lvl="1" marL="914400" rtl="0" algn="l">
              <a:lnSpc>
                <a:spcPct val="150000"/>
              </a:lnSpc>
              <a:spcBef>
                <a:spcPts val="0"/>
              </a:spcBef>
              <a:spcAft>
                <a:spcPts val="0"/>
              </a:spcAft>
              <a:buSzPts val="1400"/>
              <a:buFont typeface="Raleway"/>
              <a:buChar char="○"/>
            </a:pPr>
            <a:r>
              <a:rPr lang="pt-PT">
                <a:latin typeface="Raleway"/>
                <a:ea typeface="Raleway"/>
                <a:cs typeface="Raleway"/>
                <a:sym typeface="Raleway"/>
              </a:rPr>
              <a:t>Windows Media Player</a:t>
            </a:r>
            <a:endParaRPr>
              <a:latin typeface="Raleway"/>
              <a:ea typeface="Raleway"/>
              <a:cs typeface="Raleway"/>
              <a:sym typeface="Raleway"/>
            </a:endParaRPr>
          </a:p>
          <a:p>
            <a:pPr indent="-317500" lvl="1" marL="914400" rtl="0" algn="l">
              <a:lnSpc>
                <a:spcPct val="150000"/>
              </a:lnSpc>
              <a:spcBef>
                <a:spcPts val="0"/>
              </a:spcBef>
              <a:spcAft>
                <a:spcPts val="0"/>
              </a:spcAft>
              <a:buSzPts val="1400"/>
              <a:buFont typeface="Raleway"/>
              <a:buChar char="○"/>
            </a:pPr>
            <a:r>
              <a:rPr lang="pt-PT">
                <a:latin typeface="Raleway"/>
                <a:ea typeface="Raleway"/>
                <a:cs typeface="Raleway"/>
                <a:sym typeface="Raleway"/>
              </a:rPr>
              <a:t> FontAwesome.Sharp</a:t>
            </a:r>
            <a:endParaRPr>
              <a:latin typeface="Raleway"/>
              <a:ea typeface="Raleway"/>
              <a:cs typeface="Raleway"/>
              <a:sym typeface="Raleway"/>
            </a:endParaRPr>
          </a:p>
        </p:txBody>
      </p:sp>
      <p:pic>
        <p:nvPicPr>
          <p:cNvPr id="186" name="Google Shape;186;p24"/>
          <p:cNvPicPr preferRelativeResize="0"/>
          <p:nvPr/>
        </p:nvPicPr>
        <p:blipFill>
          <a:blip r:embed="rId4">
            <a:alphaModFix/>
          </a:blip>
          <a:stretch>
            <a:fillRect/>
          </a:stretch>
        </p:blipFill>
        <p:spPr>
          <a:xfrm>
            <a:off x="4356975" y="1560050"/>
            <a:ext cx="1786950" cy="1600700"/>
          </a:xfrm>
          <a:prstGeom prst="rect">
            <a:avLst/>
          </a:prstGeom>
          <a:noFill/>
          <a:ln>
            <a:noFill/>
          </a:ln>
        </p:spPr>
      </p:pic>
      <p:pic>
        <p:nvPicPr>
          <p:cNvPr id="187" name="Google Shape;187;p24"/>
          <p:cNvPicPr preferRelativeResize="0"/>
          <p:nvPr/>
        </p:nvPicPr>
        <p:blipFill>
          <a:blip r:embed="rId5">
            <a:alphaModFix/>
          </a:blip>
          <a:stretch>
            <a:fillRect/>
          </a:stretch>
        </p:blipFill>
        <p:spPr>
          <a:xfrm>
            <a:off x="5502823" y="3405014"/>
            <a:ext cx="2523575" cy="1336284"/>
          </a:xfrm>
          <a:prstGeom prst="rect">
            <a:avLst/>
          </a:prstGeom>
          <a:noFill/>
          <a:ln>
            <a:noFill/>
          </a:ln>
        </p:spPr>
      </p:pic>
      <p:pic>
        <p:nvPicPr>
          <p:cNvPr id="188" name="Google Shape;188;p24"/>
          <p:cNvPicPr preferRelativeResize="0"/>
          <p:nvPr/>
        </p:nvPicPr>
        <p:blipFill>
          <a:blip r:embed="rId6">
            <a:alphaModFix/>
          </a:blip>
          <a:stretch>
            <a:fillRect/>
          </a:stretch>
        </p:blipFill>
        <p:spPr>
          <a:xfrm>
            <a:off x="5086000" y="2571746"/>
            <a:ext cx="2024229" cy="1134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5"/>
          <p:cNvSpPr txBox="1"/>
          <p:nvPr>
            <p:ph type="ctrTitle"/>
          </p:nvPr>
        </p:nvSpPr>
        <p:spPr>
          <a:xfrm>
            <a:off x="729450" y="1322450"/>
            <a:ext cx="7688100" cy="1664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User Evaluation of the Functional Prototype</a:t>
            </a:r>
            <a:endParaRPr>
              <a:solidFill>
                <a:srgbClr val="000000"/>
              </a:solidFill>
              <a:latin typeface="Arial"/>
              <a:ea typeface="Arial"/>
              <a:cs typeface="Arial"/>
              <a:sym typeface="Arial"/>
            </a:endParaRPr>
          </a:p>
        </p:txBody>
      </p:sp>
      <p:sp>
        <p:nvSpPr>
          <p:cNvPr id="194" name="Google Shape;194;p25"/>
          <p:cNvSpPr txBox="1"/>
          <p:nvPr>
            <p:ph idx="1" type="subTitle"/>
          </p:nvPr>
        </p:nvSpPr>
        <p:spPr>
          <a:xfrm>
            <a:off x="729627" y="3172900"/>
            <a:ext cx="7688100" cy="541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Demo/Tasks And Usability Tests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6"/>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User Evaluation of the Functional Prototype</a:t>
            </a:r>
            <a:endParaRPr>
              <a:solidFill>
                <a:srgbClr val="000000"/>
              </a:solidFill>
              <a:latin typeface="Arial"/>
              <a:ea typeface="Arial"/>
              <a:cs typeface="Arial"/>
              <a:sym typeface="Arial"/>
            </a:endParaRPr>
          </a:p>
        </p:txBody>
      </p:sp>
      <p:pic>
        <p:nvPicPr>
          <p:cNvPr id="200" name="Google Shape;200;p26"/>
          <p:cNvPicPr preferRelativeResize="0"/>
          <p:nvPr/>
        </p:nvPicPr>
        <p:blipFill>
          <a:blip r:embed="rId3">
            <a:alphaModFix/>
          </a:blip>
          <a:stretch>
            <a:fillRect/>
          </a:stretch>
        </p:blipFill>
        <p:spPr>
          <a:xfrm>
            <a:off x="562363" y="1505150"/>
            <a:ext cx="8019263" cy="1665350"/>
          </a:xfrm>
          <a:prstGeom prst="rect">
            <a:avLst/>
          </a:prstGeom>
          <a:noFill/>
          <a:ln>
            <a:noFill/>
          </a:ln>
        </p:spPr>
      </p:pic>
      <p:pic>
        <p:nvPicPr>
          <p:cNvPr id="201" name="Google Shape;201;p26"/>
          <p:cNvPicPr preferRelativeResize="0"/>
          <p:nvPr/>
        </p:nvPicPr>
        <p:blipFill>
          <a:blip r:embed="rId4">
            <a:alphaModFix/>
          </a:blip>
          <a:stretch>
            <a:fillRect/>
          </a:stretch>
        </p:blipFill>
        <p:spPr>
          <a:xfrm>
            <a:off x="610200" y="3310600"/>
            <a:ext cx="7359676" cy="15889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5" name="Shape 205"/>
        <p:cNvGrpSpPr/>
        <p:nvPr/>
      </p:nvGrpSpPr>
      <p:grpSpPr>
        <a:xfrm>
          <a:off x="0" y="0"/>
          <a:ext cx="0" cy="0"/>
          <a:chOff x="0" y="0"/>
          <a:chExt cx="0" cy="0"/>
        </a:xfrm>
      </p:grpSpPr>
      <p:pic>
        <p:nvPicPr>
          <p:cNvPr id="206" name="Google Shape;206;p27"/>
          <p:cNvPicPr preferRelativeResize="0"/>
          <p:nvPr/>
        </p:nvPicPr>
        <p:blipFill>
          <a:blip r:embed="rId3">
            <a:alphaModFix/>
          </a:blip>
          <a:stretch>
            <a:fillRect/>
          </a:stretch>
        </p:blipFill>
        <p:spPr>
          <a:xfrm>
            <a:off x="359538" y="1521550"/>
            <a:ext cx="8424926" cy="1711500"/>
          </a:xfrm>
          <a:prstGeom prst="rect">
            <a:avLst/>
          </a:prstGeom>
          <a:noFill/>
          <a:ln>
            <a:noFill/>
          </a:ln>
        </p:spPr>
      </p:pic>
      <p:sp>
        <p:nvSpPr>
          <p:cNvPr id="207" name="Google Shape;207;p27"/>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User Evaluation of the Functional Prototype</a:t>
            </a:r>
            <a:endParaRPr>
              <a:solidFill>
                <a:srgbClr val="000000"/>
              </a:solidFill>
              <a:latin typeface="Arial"/>
              <a:ea typeface="Arial"/>
              <a:cs typeface="Arial"/>
              <a:sym typeface="Arial"/>
            </a:endParaRPr>
          </a:p>
        </p:txBody>
      </p:sp>
      <p:pic>
        <p:nvPicPr>
          <p:cNvPr id="208" name="Google Shape;208;p27"/>
          <p:cNvPicPr preferRelativeResize="0"/>
          <p:nvPr/>
        </p:nvPicPr>
        <p:blipFill>
          <a:blip r:embed="rId4">
            <a:alphaModFix/>
          </a:blip>
          <a:stretch>
            <a:fillRect/>
          </a:stretch>
        </p:blipFill>
        <p:spPr>
          <a:xfrm>
            <a:off x="359550" y="3233050"/>
            <a:ext cx="8424924" cy="17240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2" name="Shape 212"/>
        <p:cNvGrpSpPr/>
        <p:nvPr/>
      </p:nvGrpSpPr>
      <p:grpSpPr>
        <a:xfrm>
          <a:off x="0" y="0"/>
          <a:ext cx="0" cy="0"/>
          <a:chOff x="0" y="0"/>
          <a:chExt cx="0" cy="0"/>
        </a:xfrm>
      </p:grpSpPr>
      <p:sp>
        <p:nvSpPr>
          <p:cNvPr id="213" name="Google Shape;213;p28"/>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User Evaluation of the Functional Prototype</a:t>
            </a:r>
            <a:endParaRPr>
              <a:solidFill>
                <a:srgbClr val="000000"/>
              </a:solidFill>
              <a:latin typeface="Arial"/>
              <a:ea typeface="Arial"/>
              <a:cs typeface="Arial"/>
              <a:sym typeface="Arial"/>
            </a:endParaRPr>
          </a:p>
        </p:txBody>
      </p:sp>
      <p:pic>
        <p:nvPicPr>
          <p:cNvPr id="214" name="Google Shape;214;p28"/>
          <p:cNvPicPr preferRelativeResize="0"/>
          <p:nvPr/>
        </p:nvPicPr>
        <p:blipFill>
          <a:blip r:embed="rId3">
            <a:alphaModFix/>
          </a:blip>
          <a:stretch>
            <a:fillRect/>
          </a:stretch>
        </p:blipFill>
        <p:spPr>
          <a:xfrm>
            <a:off x="152400" y="1524700"/>
            <a:ext cx="8839199" cy="1898351"/>
          </a:xfrm>
          <a:prstGeom prst="rect">
            <a:avLst/>
          </a:prstGeom>
          <a:noFill/>
          <a:ln>
            <a:noFill/>
          </a:ln>
        </p:spPr>
      </p:pic>
      <p:pic>
        <p:nvPicPr>
          <p:cNvPr id="215" name="Google Shape;215;p28"/>
          <p:cNvPicPr preferRelativeResize="0"/>
          <p:nvPr/>
        </p:nvPicPr>
        <p:blipFill>
          <a:blip r:embed="rId4">
            <a:alphaModFix/>
          </a:blip>
          <a:stretch>
            <a:fillRect/>
          </a:stretch>
        </p:blipFill>
        <p:spPr>
          <a:xfrm>
            <a:off x="152400" y="3423051"/>
            <a:ext cx="8839202" cy="941453"/>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9" name="Shape 219"/>
        <p:cNvGrpSpPr/>
        <p:nvPr/>
      </p:nvGrpSpPr>
      <p:grpSpPr>
        <a:xfrm>
          <a:off x="0" y="0"/>
          <a:ext cx="0" cy="0"/>
          <a:chOff x="0" y="0"/>
          <a:chExt cx="0" cy="0"/>
        </a:xfrm>
      </p:grpSpPr>
      <p:sp>
        <p:nvSpPr>
          <p:cNvPr id="220" name="Google Shape;220;p29"/>
          <p:cNvSpPr txBox="1"/>
          <p:nvPr>
            <p:ph type="ctrTitle"/>
          </p:nvPr>
        </p:nvSpPr>
        <p:spPr>
          <a:xfrm>
            <a:off x="1928400" y="3337950"/>
            <a:ext cx="5287200" cy="823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Demo Da Aplicação</a:t>
            </a:r>
            <a:endParaRPr/>
          </a:p>
        </p:txBody>
      </p:sp>
      <p:pic>
        <p:nvPicPr>
          <p:cNvPr id="221" name="Google Shape;221;p29"/>
          <p:cNvPicPr preferRelativeResize="0"/>
          <p:nvPr/>
        </p:nvPicPr>
        <p:blipFill>
          <a:blip r:embed="rId3">
            <a:alphaModFix/>
          </a:blip>
          <a:stretch>
            <a:fillRect/>
          </a:stretch>
        </p:blipFill>
        <p:spPr>
          <a:xfrm>
            <a:off x="3482800" y="1062750"/>
            <a:ext cx="1905000" cy="1905000"/>
          </a:xfrm>
          <a:prstGeom prst="rect">
            <a:avLst/>
          </a:prstGeom>
          <a:noFill/>
          <a:ln>
            <a:noFill/>
          </a:ln>
          <a:effectLst>
            <a:reflection blurRad="0" dir="0" dist="0" endA="0" endPos="12000" fadeDir="5400012" kx="0" rotWithShape="0" algn="bl" stPos="0" sy="-100000" ky="0"/>
          </a:effectLst>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25" name="Shape 225"/>
        <p:cNvGrpSpPr/>
        <p:nvPr/>
      </p:nvGrpSpPr>
      <p:grpSpPr>
        <a:xfrm>
          <a:off x="0" y="0"/>
          <a:ext cx="0" cy="0"/>
          <a:chOff x="0" y="0"/>
          <a:chExt cx="0" cy="0"/>
        </a:xfrm>
      </p:grpSpPr>
      <p:sp>
        <p:nvSpPr>
          <p:cNvPr id="226" name="Google Shape;226;p30"/>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User Evaluation of the Functional Prototype</a:t>
            </a:r>
            <a:endParaRPr>
              <a:solidFill>
                <a:srgbClr val="000000"/>
              </a:solidFill>
              <a:latin typeface="Arial"/>
              <a:ea typeface="Arial"/>
              <a:cs typeface="Arial"/>
              <a:sym typeface="Arial"/>
            </a:endParaRPr>
          </a:p>
        </p:txBody>
      </p:sp>
      <p:sp>
        <p:nvSpPr>
          <p:cNvPr id="227" name="Google Shape;227;p30"/>
          <p:cNvSpPr txBox="1"/>
          <p:nvPr/>
        </p:nvSpPr>
        <p:spPr>
          <a:xfrm>
            <a:off x="775175" y="1337150"/>
            <a:ext cx="8130000" cy="27093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SzPts val="1400"/>
              <a:buFont typeface="Lato"/>
              <a:buAutoNum type="alphaUcPeriod"/>
            </a:pPr>
            <a:r>
              <a:rPr lang="pt-PT">
                <a:latin typeface="Lato"/>
                <a:ea typeface="Lato"/>
                <a:cs typeface="Lato"/>
                <a:sym typeface="Lato"/>
              </a:rPr>
              <a:t>5 Participants</a:t>
            </a:r>
            <a:endParaRPr>
              <a:latin typeface="Lato"/>
              <a:ea typeface="Lato"/>
              <a:cs typeface="Lato"/>
              <a:sym typeface="Lato"/>
            </a:endParaRPr>
          </a:p>
          <a:p>
            <a:pPr indent="-317500" lvl="0" marL="457200" rtl="0" algn="l">
              <a:spcBef>
                <a:spcPts val="0"/>
              </a:spcBef>
              <a:spcAft>
                <a:spcPts val="0"/>
              </a:spcAft>
              <a:buSzPts val="1400"/>
              <a:buFont typeface="Lato"/>
              <a:buAutoNum type="alphaUcPeriod"/>
            </a:pPr>
            <a:r>
              <a:rPr lang="pt-PT">
                <a:latin typeface="Lato"/>
                <a:ea typeface="Lato"/>
                <a:cs typeface="Lato"/>
                <a:sym typeface="Lato"/>
              </a:rPr>
              <a:t>All users were Listeners</a:t>
            </a:r>
            <a:endParaRPr>
              <a:latin typeface="Lato"/>
              <a:ea typeface="Lato"/>
              <a:cs typeface="Lato"/>
              <a:sym typeface="Lato"/>
            </a:endParaRPr>
          </a:p>
          <a:p>
            <a:pPr indent="-317500" lvl="0" marL="457200" rtl="0" algn="l">
              <a:spcBef>
                <a:spcPts val="0"/>
              </a:spcBef>
              <a:spcAft>
                <a:spcPts val="0"/>
              </a:spcAft>
              <a:buSzPts val="1400"/>
              <a:buFont typeface="Lato"/>
              <a:buAutoNum type="alphaUcPeriod"/>
            </a:pPr>
            <a:r>
              <a:rPr lang="pt-PT">
                <a:latin typeface="Lato"/>
                <a:ea typeface="Lato"/>
                <a:cs typeface="Lato"/>
                <a:sym typeface="Lato"/>
              </a:rPr>
              <a:t>All tasks Completed</a:t>
            </a:r>
            <a:endParaRPr>
              <a:latin typeface="Lato"/>
              <a:ea typeface="Lato"/>
              <a:cs typeface="Lato"/>
              <a:sym typeface="Lato"/>
            </a:endParaRPr>
          </a:p>
          <a:p>
            <a:pPr indent="-317500" lvl="0" marL="457200" rtl="0" algn="l">
              <a:spcBef>
                <a:spcPts val="0"/>
              </a:spcBef>
              <a:spcAft>
                <a:spcPts val="0"/>
              </a:spcAft>
              <a:buSzPts val="1400"/>
              <a:buFont typeface="Lato"/>
              <a:buAutoNum type="alphaUcPeriod"/>
            </a:pPr>
            <a:r>
              <a:rPr lang="pt-PT">
                <a:latin typeface="Lato"/>
                <a:ea typeface="Lato"/>
                <a:cs typeface="Lato"/>
                <a:sym typeface="Lato"/>
              </a:rPr>
              <a:t>Only 1 User Needed Help in Task:’ Post A New Activity Message’</a:t>
            </a:r>
            <a:endParaRPr>
              <a:latin typeface="Lato"/>
              <a:ea typeface="Lato"/>
              <a:cs typeface="Lato"/>
              <a:sym typeface="Lato"/>
            </a:endParaRPr>
          </a:p>
          <a:p>
            <a:pPr indent="0" lvl="0" marL="0" rtl="0" algn="l">
              <a:spcBef>
                <a:spcPts val="0"/>
              </a:spcBef>
              <a:spcAft>
                <a:spcPts val="0"/>
              </a:spcAft>
              <a:buNone/>
            </a:pPr>
            <a:r>
              <a:rPr lang="pt-PT">
                <a:latin typeface="Lato"/>
                <a:ea typeface="Lato"/>
                <a:cs typeface="Lato"/>
                <a:sym typeface="Lato"/>
              </a:rPr>
              <a:t>Notes From Observers:</a:t>
            </a:r>
            <a:endParaRPr>
              <a:latin typeface="Lato"/>
              <a:ea typeface="Lato"/>
              <a:cs typeface="Lato"/>
              <a:sym typeface="Lato"/>
            </a:endParaRPr>
          </a:p>
          <a:p>
            <a:pPr indent="-317500" lvl="0" marL="914400" rtl="0" algn="l">
              <a:lnSpc>
                <a:spcPct val="115000"/>
              </a:lnSpc>
              <a:spcBef>
                <a:spcPts val="0"/>
              </a:spcBef>
              <a:spcAft>
                <a:spcPts val="0"/>
              </a:spcAft>
              <a:buSzPts val="1400"/>
              <a:buFont typeface="Lato"/>
              <a:buAutoNum type="arabicPeriod"/>
            </a:pPr>
            <a:r>
              <a:rPr i="1" lang="pt-PT">
                <a:latin typeface="Lato"/>
                <a:ea typeface="Lato"/>
                <a:cs typeface="Lato"/>
                <a:sym typeface="Lato"/>
              </a:rPr>
              <a:t>Upload </a:t>
            </a:r>
            <a:r>
              <a:rPr lang="pt-PT">
                <a:latin typeface="Lato"/>
                <a:ea typeface="Lato"/>
                <a:cs typeface="Lato"/>
                <a:sym typeface="Lato"/>
              </a:rPr>
              <a:t>- 4xVery Easy, 1xEasy</a:t>
            </a:r>
            <a:endParaRPr>
              <a:latin typeface="Lato"/>
              <a:ea typeface="Lato"/>
              <a:cs typeface="Lato"/>
              <a:sym typeface="Lato"/>
            </a:endParaRPr>
          </a:p>
          <a:p>
            <a:pPr indent="-317500" lvl="0" marL="914400" rtl="0" algn="l">
              <a:lnSpc>
                <a:spcPct val="115000"/>
              </a:lnSpc>
              <a:spcBef>
                <a:spcPts val="0"/>
              </a:spcBef>
              <a:spcAft>
                <a:spcPts val="0"/>
              </a:spcAft>
              <a:buSzPts val="1400"/>
              <a:buFont typeface="Lato"/>
              <a:buAutoNum type="arabicPeriod"/>
            </a:pPr>
            <a:r>
              <a:rPr i="1" lang="pt-PT">
                <a:latin typeface="Lato"/>
                <a:ea typeface="Lato"/>
                <a:cs typeface="Lato"/>
                <a:sym typeface="Lato"/>
              </a:rPr>
              <a:t>Find New Music and Add To Playlist </a:t>
            </a:r>
            <a:r>
              <a:rPr lang="pt-PT">
                <a:latin typeface="Lato"/>
                <a:ea typeface="Lato"/>
                <a:cs typeface="Lato"/>
                <a:sym typeface="Lato"/>
              </a:rPr>
              <a:t>- 3x Very Easy, 2xEasy </a:t>
            </a:r>
            <a:endParaRPr>
              <a:latin typeface="Lato"/>
              <a:ea typeface="Lato"/>
              <a:cs typeface="Lato"/>
              <a:sym typeface="Lato"/>
            </a:endParaRPr>
          </a:p>
          <a:p>
            <a:pPr indent="-317500" lvl="0" marL="914400" rtl="0" algn="l">
              <a:lnSpc>
                <a:spcPct val="115000"/>
              </a:lnSpc>
              <a:spcBef>
                <a:spcPts val="0"/>
              </a:spcBef>
              <a:spcAft>
                <a:spcPts val="0"/>
              </a:spcAft>
              <a:buSzPts val="1400"/>
              <a:buFont typeface="Lato"/>
              <a:buAutoNum type="arabicPeriod"/>
            </a:pPr>
            <a:r>
              <a:rPr i="1" lang="pt-PT">
                <a:latin typeface="Lato"/>
                <a:ea typeface="Lato"/>
                <a:cs typeface="Lato"/>
                <a:sym typeface="Lato"/>
              </a:rPr>
              <a:t>Check Comments From Uploaded Song</a:t>
            </a:r>
            <a:r>
              <a:rPr lang="pt-PT">
                <a:latin typeface="Lato"/>
                <a:ea typeface="Lato"/>
                <a:cs typeface="Lato"/>
                <a:sym typeface="Lato"/>
              </a:rPr>
              <a:t> - 4x Very Easy, 1x Easy</a:t>
            </a:r>
            <a:endParaRPr>
              <a:latin typeface="Lato"/>
              <a:ea typeface="Lato"/>
              <a:cs typeface="Lato"/>
              <a:sym typeface="Lato"/>
            </a:endParaRPr>
          </a:p>
          <a:p>
            <a:pPr indent="-317500" lvl="0" marL="914400" rtl="0" algn="l">
              <a:lnSpc>
                <a:spcPct val="115000"/>
              </a:lnSpc>
              <a:spcBef>
                <a:spcPts val="0"/>
              </a:spcBef>
              <a:spcAft>
                <a:spcPts val="0"/>
              </a:spcAft>
              <a:buSzPts val="1400"/>
              <a:buFont typeface="Lato"/>
              <a:buAutoNum type="arabicPeriod"/>
            </a:pPr>
            <a:r>
              <a:rPr i="1" lang="pt-PT">
                <a:latin typeface="Lato"/>
                <a:ea typeface="Lato"/>
                <a:cs typeface="Lato"/>
                <a:sym typeface="Lato"/>
              </a:rPr>
              <a:t>Add Another User’s Song To Playlist</a:t>
            </a:r>
            <a:r>
              <a:rPr lang="pt-PT">
                <a:latin typeface="Lato"/>
                <a:ea typeface="Lato"/>
                <a:cs typeface="Lato"/>
                <a:sym typeface="Lato"/>
              </a:rPr>
              <a:t> - 3x-Very Easy, 2xEasy</a:t>
            </a:r>
            <a:endParaRPr>
              <a:latin typeface="Lato"/>
              <a:ea typeface="Lato"/>
              <a:cs typeface="Lato"/>
              <a:sym typeface="Lato"/>
            </a:endParaRPr>
          </a:p>
          <a:p>
            <a:pPr indent="-317500" lvl="0" marL="914400" rtl="0" algn="l">
              <a:lnSpc>
                <a:spcPct val="115000"/>
              </a:lnSpc>
              <a:spcBef>
                <a:spcPts val="0"/>
              </a:spcBef>
              <a:spcAft>
                <a:spcPts val="0"/>
              </a:spcAft>
              <a:buSzPts val="1400"/>
              <a:buFont typeface="Lato"/>
              <a:buAutoNum type="arabicPeriod"/>
            </a:pPr>
            <a:r>
              <a:rPr i="1" lang="pt-PT">
                <a:latin typeface="Lato"/>
                <a:ea typeface="Lato"/>
                <a:cs typeface="Lato"/>
                <a:sym typeface="Lato"/>
              </a:rPr>
              <a:t>Add Musics From Playlists To Favorites</a:t>
            </a:r>
            <a:r>
              <a:rPr lang="pt-PT">
                <a:latin typeface="Lato"/>
                <a:ea typeface="Lato"/>
                <a:cs typeface="Lato"/>
                <a:sym typeface="Lato"/>
              </a:rPr>
              <a:t> - 5xVery Easy</a:t>
            </a:r>
            <a:endParaRPr>
              <a:latin typeface="Lato"/>
              <a:ea typeface="Lato"/>
              <a:cs typeface="Lato"/>
              <a:sym typeface="Lato"/>
            </a:endParaRPr>
          </a:p>
          <a:p>
            <a:pPr indent="-317500" lvl="0" marL="914400" rtl="0" algn="l">
              <a:lnSpc>
                <a:spcPct val="115000"/>
              </a:lnSpc>
              <a:spcBef>
                <a:spcPts val="0"/>
              </a:spcBef>
              <a:spcAft>
                <a:spcPts val="0"/>
              </a:spcAft>
              <a:buSzPts val="1400"/>
              <a:buFont typeface="Lato"/>
              <a:buAutoNum type="arabicPeriod"/>
            </a:pPr>
            <a:r>
              <a:rPr i="1" lang="pt-PT">
                <a:latin typeface="Lato"/>
                <a:ea typeface="Lato"/>
                <a:cs typeface="Lato"/>
                <a:sym typeface="Lato"/>
              </a:rPr>
              <a:t>Write and Post New Activity Message </a:t>
            </a:r>
            <a:r>
              <a:rPr lang="pt-PT">
                <a:latin typeface="Lato"/>
                <a:ea typeface="Lato"/>
                <a:cs typeface="Lato"/>
                <a:sym typeface="Lato"/>
              </a:rPr>
              <a:t>- 3xVery Easy, 1xEasy, 1xNormal</a:t>
            </a:r>
            <a:endParaRPr>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31" name="Shape 231"/>
        <p:cNvGrpSpPr/>
        <p:nvPr/>
      </p:nvGrpSpPr>
      <p:grpSpPr>
        <a:xfrm>
          <a:off x="0" y="0"/>
          <a:ext cx="0" cy="0"/>
          <a:chOff x="0" y="0"/>
          <a:chExt cx="0" cy="0"/>
        </a:xfrm>
      </p:grpSpPr>
      <p:sp>
        <p:nvSpPr>
          <p:cNvPr id="232" name="Google Shape;232;p31"/>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User Evaluation of the Functional Prototype</a:t>
            </a:r>
            <a:endParaRPr>
              <a:solidFill>
                <a:srgbClr val="000000"/>
              </a:solidFill>
              <a:latin typeface="Arial"/>
              <a:ea typeface="Arial"/>
              <a:cs typeface="Arial"/>
              <a:sym typeface="Arial"/>
            </a:endParaRPr>
          </a:p>
        </p:txBody>
      </p:sp>
      <p:pic>
        <p:nvPicPr>
          <p:cNvPr descr="Gráfico de respostas do Formulários. Título da pergunta: O que achou das tarefas que realizou?. Número de respostas: ." id="233" name="Google Shape;233;p31"/>
          <p:cNvPicPr preferRelativeResize="0"/>
          <p:nvPr/>
        </p:nvPicPr>
        <p:blipFill rotWithShape="1">
          <a:blip r:embed="rId3">
            <a:alphaModFix/>
          </a:blip>
          <a:srcRect b="18759" l="-1307" r="2248" t="22781"/>
          <a:stretch/>
        </p:blipFill>
        <p:spPr>
          <a:xfrm>
            <a:off x="202400" y="2033787"/>
            <a:ext cx="5323649" cy="1735150"/>
          </a:xfrm>
          <a:prstGeom prst="rect">
            <a:avLst/>
          </a:prstGeom>
          <a:noFill/>
          <a:ln>
            <a:noFill/>
          </a:ln>
        </p:spPr>
      </p:pic>
      <p:sp>
        <p:nvSpPr>
          <p:cNvPr id="234" name="Google Shape;234;p31"/>
          <p:cNvSpPr txBox="1"/>
          <p:nvPr/>
        </p:nvSpPr>
        <p:spPr>
          <a:xfrm>
            <a:off x="5393100" y="2007425"/>
            <a:ext cx="3750900" cy="2137800"/>
          </a:xfrm>
          <a:prstGeom prst="rect">
            <a:avLst/>
          </a:prstGeom>
          <a:noFill/>
          <a:ln>
            <a:noFill/>
          </a:ln>
        </p:spPr>
        <p:txBody>
          <a:bodyPr anchorCtr="0" anchor="t" bIns="91425" lIns="91425" spcFirstLastPara="1" rIns="91425" wrap="square" tIns="91425">
            <a:noAutofit/>
          </a:bodyPr>
          <a:lstStyle/>
          <a:p>
            <a:pPr indent="-298450" lvl="0" marL="457200" rtl="0" algn="l">
              <a:lnSpc>
                <a:spcPct val="150000"/>
              </a:lnSpc>
              <a:spcBef>
                <a:spcPts val="0"/>
              </a:spcBef>
              <a:spcAft>
                <a:spcPts val="0"/>
              </a:spcAft>
              <a:buSzPts val="1100"/>
              <a:buFont typeface="Raleway"/>
              <a:buAutoNum type="arabicPeriod"/>
            </a:pPr>
            <a:r>
              <a:rPr lang="pt-PT" sz="1100">
                <a:latin typeface="Raleway"/>
                <a:ea typeface="Raleway"/>
                <a:cs typeface="Raleway"/>
                <a:sym typeface="Raleway"/>
              </a:rPr>
              <a:t>Upload</a:t>
            </a:r>
            <a:endParaRPr sz="1100">
              <a:latin typeface="Raleway"/>
              <a:ea typeface="Raleway"/>
              <a:cs typeface="Raleway"/>
              <a:sym typeface="Raleway"/>
            </a:endParaRPr>
          </a:p>
          <a:p>
            <a:pPr indent="-298450" lvl="0" marL="457200" rtl="0" algn="l">
              <a:lnSpc>
                <a:spcPct val="150000"/>
              </a:lnSpc>
              <a:spcBef>
                <a:spcPts val="0"/>
              </a:spcBef>
              <a:spcAft>
                <a:spcPts val="0"/>
              </a:spcAft>
              <a:buSzPts val="1100"/>
              <a:buFont typeface="Raleway"/>
              <a:buAutoNum type="arabicPeriod"/>
            </a:pPr>
            <a:r>
              <a:rPr lang="pt-PT" sz="1100">
                <a:latin typeface="Raleway"/>
                <a:ea typeface="Raleway"/>
                <a:cs typeface="Raleway"/>
                <a:sym typeface="Raleway"/>
              </a:rPr>
              <a:t>Find a New Song and Add It to a Playlist</a:t>
            </a:r>
            <a:endParaRPr sz="1100">
              <a:latin typeface="Raleway"/>
              <a:ea typeface="Raleway"/>
              <a:cs typeface="Raleway"/>
              <a:sym typeface="Raleway"/>
            </a:endParaRPr>
          </a:p>
          <a:p>
            <a:pPr indent="-298450" lvl="0" marL="457200" rtl="0" algn="l">
              <a:lnSpc>
                <a:spcPct val="150000"/>
              </a:lnSpc>
              <a:spcBef>
                <a:spcPts val="0"/>
              </a:spcBef>
              <a:spcAft>
                <a:spcPts val="0"/>
              </a:spcAft>
              <a:buSzPts val="1100"/>
              <a:buFont typeface="Raleway"/>
              <a:buAutoNum type="arabicPeriod"/>
            </a:pPr>
            <a:r>
              <a:rPr lang="pt-PT" sz="1100">
                <a:latin typeface="Raleway"/>
                <a:ea typeface="Raleway"/>
                <a:cs typeface="Raleway"/>
                <a:sym typeface="Raleway"/>
              </a:rPr>
              <a:t>Check An Uploaded Music's Comments</a:t>
            </a:r>
            <a:endParaRPr sz="1100">
              <a:latin typeface="Raleway"/>
              <a:ea typeface="Raleway"/>
              <a:cs typeface="Raleway"/>
              <a:sym typeface="Raleway"/>
            </a:endParaRPr>
          </a:p>
          <a:p>
            <a:pPr indent="-298450" lvl="0" marL="457200" rtl="0" algn="l">
              <a:lnSpc>
                <a:spcPct val="150000"/>
              </a:lnSpc>
              <a:spcBef>
                <a:spcPts val="0"/>
              </a:spcBef>
              <a:spcAft>
                <a:spcPts val="0"/>
              </a:spcAft>
              <a:buSzPts val="1100"/>
              <a:buFont typeface="Raleway"/>
              <a:buAutoNum type="arabicPeriod"/>
            </a:pPr>
            <a:r>
              <a:rPr lang="pt-PT" sz="1100">
                <a:latin typeface="Raleway"/>
                <a:ea typeface="Raleway"/>
                <a:cs typeface="Raleway"/>
                <a:sym typeface="Raleway"/>
              </a:rPr>
              <a:t>Add another User’s/Friend Song To A New Playlist</a:t>
            </a:r>
            <a:endParaRPr sz="1100">
              <a:latin typeface="Raleway"/>
              <a:ea typeface="Raleway"/>
              <a:cs typeface="Raleway"/>
              <a:sym typeface="Raleway"/>
            </a:endParaRPr>
          </a:p>
          <a:p>
            <a:pPr indent="-298450" lvl="0" marL="457200" rtl="0" algn="l">
              <a:lnSpc>
                <a:spcPct val="150000"/>
              </a:lnSpc>
              <a:spcBef>
                <a:spcPts val="0"/>
              </a:spcBef>
              <a:spcAft>
                <a:spcPts val="0"/>
              </a:spcAft>
              <a:buSzPts val="1100"/>
              <a:buFont typeface="Raleway"/>
              <a:buAutoNum type="arabicPeriod"/>
            </a:pPr>
            <a:r>
              <a:rPr lang="pt-PT" sz="1100">
                <a:latin typeface="Raleway"/>
                <a:ea typeface="Raleway"/>
                <a:cs typeface="Raleway"/>
                <a:sym typeface="Raleway"/>
              </a:rPr>
              <a:t>Add Musics From Your Playlists To Favorites</a:t>
            </a:r>
            <a:endParaRPr sz="1100">
              <a:latin typeface="Raleway"/>
              <a:ea typeface="Raleway"/>
              <a:cs typeface="Raleway"/>
              <a:sym typeface="Raleway"/>
            </a:endParaRPr>
          </a:p>
          <a:p>
            <a:pPr indent="-298450" lvl="0" marL="457200" rtl="0" algn="l">
              <a:lnSpc>
                <a:spcPct val="150000"/>
              </a:lnSpc>
              <a:spcBef>
                <a:spcPts val="0"/>
              </a:spcBef>
              <a:spcAft>
                <a:spcPts val="0"/>
              </a:spcAft>
              <a:buSzPts val="1100"/>
              <a:buFont typeface="Raleway"/>
              <a:buAutoNum type="arabicPeriod"/>
            </a:pPr>
            <a:r>
              <a:rPr lang="pt-PT" sz="1100">
                <a:latin typeface="Raleway"/>
                <a:ea typeface="Raleway"/>
                <a:cs typeface="Raleway"/>
                <a:sym typeface="Raleway"/>
              </a:rPr>
              <a:t>Write A Message and Post It For Your Friends To See It</a:t>
            </a:r>
            <a:endParaRPr sz="1100">
              <a:latin typeface="Raleway"/>
              <a:ea typeface="Raleway"/>
              <a:cs typeface="Raleway"/>
              <a:sym typeface="Raleway"/>
            </a:endParaRPr>
          </a:p>
        </p:txBody>
      </p:sp>
      <p:sp>
        <p:nvSpPr>
          <p:cNvPr id="235" name="Google Shape;235;p31"/>
          <p:cNvSpPr txBox="1"/>
          <p:nvPr/>
        </p:nvSpPr>
        <p:spPr>
          <a:xfrm>
            <a:off x="498300" y="3768950"/>
            <a:ext cx="4894800" cy="289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pt-PT">
                <a:latin typeface="Lato"/>
                <a:ea typeface="Lato"/>
                <a:cs typeface="Lato"/>
                <a:sym typeface="Lato"/>
              </a:rPr>
              <a:t>Task 1	Task 2          Task 3	       Task 4	     Task 5	Task 6</a:t>
            </a:r>
            <a:endParaRPr>
              <a:latin typeface="Lato"/>
              <a:ea typeface="Lato"/>
              <a:cs typeface="Lato"/>
              <a:sym typeface="Lato"/>
            </a:endParaRPr>
          </a:p>
        </p:txBody>
      </p:sp>
      <p:sp>
        <p:nvSpPr>
          <p:cNvPr id="236" name="Google Shape;236;p31"/>
          <p:cNvSpPr txBox="1"/>
          <p:nvPr/>
        </p:nvSpPr>
        <p:spPr>
          <a:xfrm>
            <a:off x="230825" y="1410675"/>
            <a:ext cx="5266800" cy="327600"/>
          </a:xfrm>
          <a:prstGeom prst="rect">
            <a:avLst/>
          </a:prstGeom>
          <a:noFill/>
          <a:ln>
            <a:noFill/>
          </a:ln>
        </p:spPr>
        <p:txBody>
          <a:bodyPr anchorCtr="0" anchor="t" bIns="91425" lIns="91425" spcFirstLastPara="1" rIns="91425" wrap="square" tIns="91425">
            <a:noAutofit/>
          </a:bodyPr>
          <a:lstStyle/>
          <a:p>
            <a:pPr indent="-298450" lvl="0" marL="457200" rtl="0" algn="l">
              <a:spcBef>
                <a:spcPts val="0"/>
              </a:spcBef>
              <a:spcAft>
                <a:spcPts val="0"/>
              </a:spcAft>
              <a:buSzPts val="1100"/>
              <a:buFont typeface="Lato"/>
              <a:buChar char="●"/>
            </a:pPr>
            <a:r>
              <a:rPr lang="pt-PT" sz="1100">
                <a:latin typeface="Lato"/>
                <a:ea typeface="Lato"/>
                <a:cs typeface="Lato"/>
                <a:sym typeface="Lato"/>
              </a:rPr>
              <a:t>Blue = Really Easy; Red = Easy; Orange = Medium Difficulty; Green = Hard; Purple = Really Hard</a:t>
            </a:r>
            <a:endParaRPr sz="1100">
              <a:latin typeface="Lato"/>
              <a:ea typeface="Lato"/>
              <a:cs typeface="Lato"/>
              <a:sym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40" name="Shape 240"/>
        <p:cNvGrpSpPr/>
        <p:nvPr/>
      </p:nvGrpSpPr>
      <p:grpSpPr>
        <a:xfrm>
          <a:off x="0" y="0"/>
          <a:ext cx="0" cy="0"/>
          <a:chOff x="0" y="0"/>
          <a:chExt cx="0" cy="0"/>
        </a:xfrm>
      </p:grpSpPr>
      <p:sp>
        <p:nvSpPr>
          <p:cNvPr id="241" name="Google Shape;241;p32"/>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pt-PT"/>
              <a:t>Final user Thoughts</a:t>
            </a:r>
            <a:endParaRPr/>
          </a:p>
        </p:txBody>
      </p:sp>
      <p:sp>
        <p:nvSpPr>
          <p:cNvPr id="242" name="Google Shape;242;p32"/>
          <p:cNvSpPr txBox="1"/>
          <p:nvPr>
            <p:ph idx="1" type="body"/>
          </p:nvPr>
        </p:nvSpPr>
        <p:spPr>
          <a:xfrm>
            <a:off x="1720050" y="2078875"/>
            <a:ext cx="5031300" cy="2261100"/>
          </a:xfrm>
          <a:prstGeom prst="rect">
            <a:avLst/>
          </a:prstGeom>
        </p:spPr>
        <p:txBody>
          <a:bodyPr anchorCtr="0" anchor="t" bIns="91425" lIns="91425" spcFirstLastPara="1" rIns="91425" wrap="square" tIns="91425">
            <a:noAutofit/>
          </a:bodyPr>
          <a:lstStyle/>
          <a:p>
            <a:pPr indent="-333375" lvl="0" marL="457200" marR="101600" rtl="0" algn="l">
              <a:lnSpc>
                <a:spcPct val="150000"/>
              </a:lnSpc>
              <a:spcBef>
                <a:spcPts val="300"/>
              </a:spcBef>
              <a:spcAft>
                <a:spcPts val="0"/>
              </a:spcAft>
              <a:buClr>
                <a:srgbClr val="202124"/>
              </a:buClr>
              <a:buSzPts val="1650"/>
              <a:buFont typeface="Roboto"/>
              <a:buChar char="●"/>
            </a:pPr>
            <a:r>
              <a:rPr lang="pt-PT" sz="1650">
                <a:solidFill>
                  <a:srgbClr val="202124"/>
                </a:solidFill>
                <a:highlight>
                  <a:srgbClr val="F8F9FA"/>
                </a:highlight>
                <a:latin typeface="Roboto"/>
                <a:ea typeface="Roboto"/>
                <a:cs typeface="Roboto"/>
                <a:sym typeface="Roboto"/>
              </a:rPr>
              <a:t>Change The Colors For Better Visibility</a:t>
            </a:r>
            <a:endParaRPr sz="1650">
              <a:solidFill>
                <a:srgbClr val="202124"/>
              </a:solidFill>
              <a:highlight>
                <a:srgbClr val="F8F9FA"/>
              </a:highlight>
              <a:latin typeface="Roboto"/>
              <a:ea typeface="Roboto"/>
              <a:cs typeface="Roboto"/>
              <a:sym typeface="Roboto"/>
            </a:endParaRPr>
          </a:p>
          <a:p>
            <a:pPr indent="-333375" lvl="0" marL="457200" marR="101600" rtl="0" algn="l">
              <a:lnSpc>
                <a:spcPct val="150000"/>
              </a:lnSpc>
              <a:spcBef>
                <a:spcPts val="0"/>
              </a:spcBef>
              <a:spcAft>
                <a:spcPts val="0"/>
              </a:spcAft>
              <a:buClr>
                <a:srgbClr val="202124"/>
              </a:buClr>
              <a:buSzPts val="1650"/>
              <a:buFont typeface="Roboto"/>
              <a:buChar char="●"/>
            </a:pPr>
            <a:r>
              <a:rPr lang="pt-PT" sz="1650">
                <a:solidFill>
                  <a:srgbClr val="202124"/>
                </a:solidFill>
                <a:highlight>
                  <a:srgbClr val="F8F9FA"/>
                </a:highlight>
                <a:latin typeface="Roboto"/>
                <a:ea typeface="Roboto"/>
                <a:cs typeface="Roboto"/>
                <a:sym typeface="Roboto"/>
              </a:rPr>
              <a:t>Add a ‘Go Back’ Button x2</a:t>
            </a:r>
            <a:endParaRPr sz="1650">
              <a:solidFill>
                <a:srgbClr val="202124"/>
              </a:solidFill>
              <a:highlight>
                <a:srgbClr val="F8F9FA"/>
              </a:highlight>
              <a:latin typeface="Roboto"/>
              <a:ea typeface="Roboto"/>
              <a:cs typeface="Roboto"/>
              <a:sym typeface="Roboto"/>
            </a:endParaRPr>
          </a:p>
          <a:p>
            <a:pPr indent="-333375" lvl="0" marL="457200" marR="101600" rtl="0" algn="l">
              <a:lnSpc>
                <a:spcPct val="150000"/>
              </a:lnSpc>
              <a:spcBef>
                <a:spcPts val="0"/>
              </a:spcBef>
              <a:spcAft>
                <a:spcPts val="0"/>
              </a:spcAft>
              <a:buClr>
                <a:srgbClr val="202124"/>
              </a:buClr>
              <a:buSzPts val="1650"/>
              <a:buFont typeface="Roboto"/>
              <a:buChar char="●"/>
            </a:pPr>
            <a:r>
              <a:rPr lang="pt-PT" sz="1650">
                <a:solidFill>
                  <a:srgbClr val="202124"/>
                </a:solidFill>
                <a:highlight>
                  <a:srgbClr val="F8F9FA"/>
                </a:highlight>
                <a:latin typeface="Roboto"/>
                <a:ea typeface="Roboto"/>
                <a:cs typeface="Roboto"/>
                <a:sym typeface="Roboto"/>
              </a:rPr>
              <a:t>UserName Accesses It’s Profile</a:t>
            </a:r>
            <a:endParaRPr sz="1650">
              <a:solidFill>
                <a:srgbClr val="202124"/>
              </a:solidFill>
              <a:highlight>
                <a:srgbClr val="F8F9FA"/>
              </a:highlight>
              <a:latin typeface="Roboto"/>
              <a:ea typeface="Roboto"/>
              <a:cs typeface="Roboto"/>
              <a:sym typeface="Roboto"/>
            </a:endParaRPr>
          </a:p>
          <a:p>
            <a:pPr indent="-333375" lvl="0" marL="457200" marR="101600" rtl="0" algn="l">
              <a:lnSpc>
                <a:spcPct val="150000"/>
              </a:lnSpc>
              <a:spcBef>
                <a:spcPts val="0"/>
              </a:spcBef>
              <a:spcAft>
                <a:spcPts val="0"/>
              </a:spcAft>
              <a:buClr>
                <a:srgbClr val="202124"/>
              </a:buClr>
              <a:buSzPts val="1650"/>
              <a:buFont typeface="Roboto"/>
              <a:buChar char="●"/>
            </a:pPr>
            <a:r>
              <a:rPr lang="pt-PT" sz="1650">
                <a:solidFill>
                  <a:srgbClr val="202124"/>
                </a:solidFill>
                <a:highlight>
                  <a:srgbClr val="F8F9FA"/>
                </a:highlight>
                <a:latin typeface="Roboto"/>
                <a:ea typeface="Roboto"/>
                <a:cs typeface="Roboto"/>
                <a:sym typeface="Roboto"/>
              </a:rPr>
              <a:t>Add A Help Window</a:t>
            </a:r>
            <a:endParaRPr sz="1650">
              <a:solidFill>
                <a:srgbClr val="202124"/>
              </a:solidFill>
              <a:highlight>
                <a:srgbClr val="F8F9FA"/>
              </a:highlight>
              <a:latin typeface="Roboto"/>
              <a:ea typeface="Roboto"/>
              <a:cs typeface="Roboto"/>
              <a:sym typeface="Roboto"/>
            </a:endParaRPr>
          </a:p>
          <a:p>
            <a:pPr indent="0" lvl="0" marL="0" rtl="0" algn="l">
              <a:spcBef>
                <a:spcPts val="0"/>
              </a:spcBef>
              <a:spcAft>
                <a:spcPts val="1600"/>
              </a:spcAft>
              <a:buNone/>
            </a:pPr>
            <a:r>
              <a:t/>
            </a:r>
            <a:endParaRPr/>
          </a:p>
        </p:txBody>
      </p:sp>
      <p:pic>
        <p:nvPicPr>
          <p:cNvPr id="243" name="Google Shape;243;p32"/>
          <p:cNvPicPr preferRelativeResize="0"/>
          <p:nvPr/>
        </p:nvPicPr>
        <p:blipFill>
          <a:blip r:embed="rId3">
            <a:alphaModFix/>
          </a:blip>
          <a:stretch>
            <a:fillRect/>
          </a:stretch>
        </p:blipFill>
        <p:spPr>
          <a:xfrm>
            <a:off x="5945950" y="2080623"/>
            <a:ext cx="366950" cy="349525"/>
          </a:xfrm>
          <a:prstGeom prst="rect">
            <a:avLst/>
          </a:prstGeom>
          <a:noFill/>
          <a:ln>
            <a:noFill/>
          </a:ln>
        </p:spPr>
      </p:pic>
      <p:pic>
        <p:nvPicPr>
          <p:cNvPr id="244" name="Google Shape;244;p32"/>
          <p:cNvPicPr preferRelativeResize="0"/>
          <p:nvPr/>
        </p:nvPicPr>
        <p:blipFill>
          <a:blip r:embed="rId3">
            <a:alphaModFix/>
          </a:blip>
          <a:stretch>
            <a:fillRect/>
          </a:stretch>
        </p:blipFill>
        <p:spPr>
          <a:xfrm>
            <a:off x="5307850" y="2872260"/>
            <a:ext cx="366950" cy="349525"/>
          </a:xfrm>
          <a:prstGeom prst="rect">
            <a:avLst/>
          </a:prstGeom>
          <a:noFill/>
          <a:ln>
            <a:noFill/>
          </a:ln>
        </p:spPr>
      </p:pic>
      <p:pic>
        <p:nvPicPr>
          <p:cNvPr id="245" name="Google Shape;245;p32"/>
          <p:cNvPicPr preferRelativeResize="0"/>
          <p:nvPr/>
        </p:nvPicPr>
        <p:blipFill>
          <a:blip r:embed="rId3">
            <a:alphaModFix/>
          </a:blip>
          <a:stretch>
            <a:fillRect/>
          </a:stretch>
        </p:blipFill>
        <p:spPr>
          <a:xfrm>
            <a:off x="4267975" y="3300973"/>
            <a:ext cx="366950" cy="349525"/>
          </a:xfrm>
          <a:prstGeom prst="rect">
            <a:avLst/>
          </a:prstGeom>
          <a:noFill/>
          <a:ln>
            <a:noFill/>
          </a:ln>
        </p:spPr>
      </p:pic>
      <p:pic>
        <p:nvPicPr>
          <p:cNvPr id="246" name="Google Shape;246;p32"/>
          <p:cNvPicPr preferRelativeResize="0"/>
          <p:nvPr/>
        </p:nvPicPr>
        <p:blipFill rotWithShape="1">
          <a:blip r:embed="rId4">
            <a:alphaModFix/>
          </a:blip>
          <a:srcRect b="12018" l="0" r="0" t="0"/>
          <a:stretch/>
        </p:blipFill>
        <p:spPr>
          <a:xfrm>
            <a:off x="4834400" y="2521425"/>
            <a:ext cx="428225" cy="4069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50" name="Shape 250"/>
        <p:cNvGrpSpPr/>
        <p:nvPr/>
      </p:nvGrpSpPr>
      <p:grpSpPr>
        <a:xfrm>
          <a:off x="0" y="0"/>
          <a:ext cx="0" cy="0"/>
          <a:chOff x="0" y="0"/>
          <a:chExt cx="0" cy="0"/>
        </a:xfrm>
      </p:grpSpPr>
      <p:sp>
        <p:nvSpPr>
          <p:cNvPr id="251" name="Google Shape;251;p33"/>
          <p:cNvSpPr txBox="1"/>
          <p:nvPr>
            <p:ph idx="1" type="body"/>
          </p:nvPr>
        </p:nvSpPr>
        <p:spPr>
          <a:xfrm>
            <a:off x="638475" y="1557925"/>
            <a:ext cx="7688700" cy="2261100"/>
          </a:xfrm>
          <a:prstGeom prst="rect">
            <a:avLst/>
          </a:prstGeom>
        </p:spPr>
        <p:txBody>
          <a:bodyPr anchorCtr="0" anchor="t" bIns="91425" lIns="91425" spcFirstLastPara="1" rIns="91425" wrap="square" tIns="91425">
            <a:noAutofit/>
          </a:bodyPr>
          <a:lstStyle/>
          <a:p>
            <a:pPr indent="-311150" lvl="0" marL="457200" rtl="0" algn="l">
              <a:lnSpc>
                <a:spcPct val="150000"/>
              </a:lnSpc>
              <a:spcBef>
                <a:spcPts val="0"/>
              </a:spcBef>
              <a:spcAft>
                <a:spcPts val="0"/>
              </a:spcAft>
              <a:buSzPts val="1300"/>
              <a:buFont typeface="Raleway"/>
              <a:buChar char="●"/>
            </a:pPr>
            <a:r>
              <a:rPr lang="pt-PT">
                <a:latin typeface="Raleway"/>
                <a:ea typeface="Raleway"/>
                <a:cs typeface="Raleway"/>
                <a:sym typeface="Raleway"/>
              </a:rPr>
              <a:t>Add Find Album, Singer and Implement Podcast Version Of App</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Get Shazam and Genius Integration</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000000"/>
                </a:solidFill>
                <a:latin typeface="Raleway"/>
                <a:ea typeface="Raleway"/>
                <a:cs typeface="Raleway"/>
                <a:sym typeface="Raleway"/>
              </a:rPr>
              <a:t>Add a Go Back Button</a:t>
            </a:r>
            <a:endParaRPr>
              <a:solidFill>
                <a:srgbClr val="000000"/>
              </a:solidFill>
              <a:latin typeface="Raleway"/>
              <a:ea typeface="Raleway"/>
              <a:cs typeface="Raleway"/>
              <a:sym typeface="Raleway"/>
            </a:endParaRPr>
          </a:p>
          <a:p>
            <a:pPr indent="-311150" lvl="0" marL="457200" rtl="0" algn="l">
              <a:lnSpc>
                <a:spcPct val="150000"/>
              </a:lnSpc>
              <a:spcBef>
                <a:spcPts val="0"/>
              </a:spcBef>
              <a:spcAft>
                <a:spcPts val="0"/>
              </a:spcAft>
              <a:buClr>
                <a:srgbClr val="000000"/>
              </a:buClr>
              <a:buSzPts val="1300"/>
              <a:buFont typeface="Raleway"/>
              <a:buChar char="●"/>
            </a:pPr>
            <a:r>
              <a:rPr lang="pt-PT">
                <a:solidFill>
                  <a:srgbClr val="333333"/>
                </a:solidFill>
                <a:highlight>
                  <a:srgbClr val="FFFFFF"/>
                </a:highlight>
                <a:latin typeface="Raleway"/>
                <a:ea typeface="Raleway"/>
                <a:cs typeface="Raleway"/>
                <a:sym typeface="Raleway"/>
              </a:rPr>
              <a:t>Beautify user interface</a:t>
            </a:r>
            <a:endParaRPr>
              <a:solidFill>
                <a:srgbClr val="333333"/>
              </a:solidFill>
              <a:highlight>
                <a:srgbClr val="FFFFFF"/>
              </a:highlight>
              <a:latin typeface="Raleway"/>
              <a:ea typeface="Raleway"/>
              <a:cs typeface="Raleway"/>
              <a:sym typeface="Raleway"/>
            </a:endParaRPr>
          </a:p>
          <a:p>
            <a:pPr indent="-311150" lvl="0" marL="457200" rtl="0" algn="l">
              <a:lnSpc>
                <a:spcPct val="150000"/>
              </a:lnSpc>
              <a:spcBef>
                <a:spcPts val="0"/>
              </a:spcBef>
              <a:spcAft>
                <a:spcPts val="0"/>
              </a:spcAft>
              <a:buClr>
                <a:srgbClr val="333333"/>
              </a:buClr>
              <a:buSzPts val="1300"/>
              <a:buFont typeface="Raleway"/>
              <a:buChar char="●"/>
            </a:pPr>
            <a:r>
              <a:rPr lang="pt-PT">
                <a:solidFill>
                  <a:srgbClr val="333333"/>
                </a:solidFill>
                <a:highlight>
                  <a:srgbClr val="FFFFFF"/>
                </a:highlight>
                <a:latin typeface="Raleway"/>
                <a:ea typeface="Raleway"/>
                <a:cs typeface="Raleway"/>
                <a:sym typeface="Raleway"/>
              </a:rPr>
              <a:t>Develop A Database </a:t>
            </a:r>
            <a:endParaRPr>
              <a:solidFill>
                <a:srgbClr val="333333"/>
              </a:solidFill>
              <a:highlight>
                <a:srgbClr val="FFFFFF"/>
              </a:highlight>
              <a:latin typeface="Raleway"/>
              <a:ea typeface="Raleway"/>
              <a:cs typeface="Raleway"/>
              <a:sym typeface="Raleway"/>
            </a:endParaRPr>
          </a:p>
          <a:p>
            <a:pPr indent="0" lvl="0" marL="457200" rtl="0" algn="l">
              <a:lnSpc>
                <a:spcPct val="150000"/>
              </a:lnSpc>
              <a:spcBef>
                <a:spcPts val="1600"/>
              </a:spcBef>
              <a:spcAft>
                <a:spcPts val="1600"/>
              </a:spcAft>
              <a:buNone/>
            </a:pPr>
            <a:r>
              <a:t/>
            </a:r>
            <a:endParaRPr>
              <a:solidFill>
                <a:srgbClr val="333333"/>
              </a:solidFill>
              <a:highlight>
                <a:srgbClr val="FFFFFF"/>
              </a:highlight>
              <a:latin typeface="Arial"/>
              <a:ea typeface="Arial"/>
              <a:cs typeface="Arial"/>
              <a:sym typeface="Arial"/>
            </a:endParaRPr>
          </a:p>
        </p:txBody>
      </p:sp>
      <p:sp>
        <p:nvSpPr>
          <p:cNvPr id="252" name="Google Shape;252;p33"/>
          <p:cNvSpPr txBox="1"/>
          <p:nvPr>
            <p:ph type="title"/>
          </p:nvPr>
        </p:nvSpPr>
        <p:spPr>
          <a:xfrm>
            <a:off x="688025" y="606325"/>
            <a:ext cx="7688700" cy="5352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pt-PT">
                <a:solidFill>
                  <a:srgbClr val="000000"/>
                </a:solidFill>
                <a:latin typeface="Arial"/>
                <a:ea typeface="Arial"/>
                <a:cs typeface="Arial"/>
                <a:sym typeface="Arial"/>
              </a:rPr>
              <a:t>Future Work</a:t>
            </a:r>
            <a:endParaRPr>
              <a:solidFill>
                <a:srgbClr val="000000"/>
              </a:solidFill>
              <a:latin typeface="Arial"/>
              <a:ea typeface="Arial"/>
              <a:cs typeface="Arial"/>
              <a:sym typeface="Arial"/>
            </a:endParaRPr>
          </a:p>
          <a:p>
            <a:pPr indent="0" lvl="0" marL="0" rtl="0" algn="l">
              <a:lnSpc>
                <a:spcPct val="115000"/>
              </a:lnSpc>
              <a:spcBef>
                <a:spcPts val="0"/>
              </a:spcBef>
              <a:spcAft>
                <a:spcPts val="0"/>
              </a:spcAft>
              <a:buNone/>
            </a:pPr>
            <a:r>
              <a:t/>
            </a:r>
            <a:endParaRPr>
              <a:solidFill>
                <a:srgbClr val="000000"/>
              </a:solidFill>
              <a:latin typeface="Arial"/>
              <a:ea typeface="Arial"/>
              <a:cs typeface="Arial"/>
              <a:sym typeface="Arial"/>
            </a:endParaRPr>
          </a:p>
        </p:txBody>
      </p:sp>
      <p:pic>
        <p:nvPicPr>
          <p:cNvPr id="253" name="Google Shape;253;p33"/>
          <p:cNvPicPr preferRelativeResize="0"/>
          <p:nvPr/>
        </p:nvPicPr>
        <p:blipFill>
          <a:blip r:embed="rId3">
            <a:alphaModFix/>
          </a:blip>
          <a:stretch>
            <a:fillRect/>
          </a:stretch>
        </p:blipFill>
        <p:spPr>
          <a:xfrm>
            <a:off x="6160225" y="1940325"/>
            <a:ext cx="2537025" cy="2559075"/>
          </a:xfrm>
          <a:prstGeom prst="rect">
            <a:avLst/>
          </a:prstGeom>
          <a:noFill/>
          <a:ln>
            <a:noFill/>
          </a:ln>
        </p:spPr>
      </p:pic>
      <p:sp>
        <p:nvSpPr>
          <p:cNvPr id="254" name="Google Shape;254;p33"/>
          <p:cNvSpPr txBox="1"/>
          <p:nvPr/>
        </p:nvSpPr>
        <p:spPr>
          <a:xfrm>
            <a:off x="755725" y="3433900"/>
            <a:ext cx="5723100" cy="120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pt-PT">
                <a:latin typeface="Lato"/>
                <a:ea typeface="Lato"/>
                <a:cs typeface="Lato"/>
                <a:sym typeface="Lato"/>
              </a:rPr>
              <a:t>Effort:</a:t>
            </a:r>
            <a:endParaRPr b="1">
              <a:latin typeface="Lato"/>
              <a:ea typeface="Lato"/>
              <a:cs typeface="Lato"/>
              <a:sym typeface="Lato"/>
            </a:endParaRPr>
          </a:p>
          <a:p>
            <a:pPr indent="0" lvl="0" marL="0" rtl="0" algn="l">
              <a:spcBef>
                <a:spcPts val="0"/>
              </a:spcBef>
              <a:spcAft>
                <a:spcPts val="0"/>
              </a:spcAft>
              <a:buNone/>
            </a:pPr>
            <a:r>
              <a:rPr lang="pt-PT">
                <a:latin typeface="Lato"/>
                <a:ea typeface="Lato"/>
                <a:cs typeface="Lato"/>
                <a:sym typeface="Lato"/>
              </a:rPr>
              <a:t>Pedro Marques 92926 - 40%;</a:t>
            </a:r>
            <a:endParaRPr>
              <a:latin typeface="Lato"/>
              <a:ea typeface="Lato"/>
              <a:cs typeface="Lato"/>
              <a:sym typeface="Lato"/>
            </a:endParaRPr>
          </a:p>
          <a:p>
            <a:pPr indent="0" lvl="0" marL="0" rtl="0" algn="l">
              <a:spcBef>
                <a:spcPts val="0"/>
              </a:spcBef>
              <a:spcAft>
                <a:spcPts val="0"/>
              </a:spcAft>
              <a:buNone/>
            </a:pPr>
            <a:r>
              <a:rPr lang="pt-PT">
                <a:latin typeface="Lato"/>
                <a:ea typeface="Lato"/>
                <a:cs typeface="Lato"/>
                <a:sym typeface="Lato"/>
              </a:rPr>
              <a:t>Wei Ye 93442 - 35%;</a:t>
            </a:r>
            <a:endParaRPr>
              <a:latin typeface="Lato"/>
              <a:ea typeface="Lato"/>
              <a:cs typeface="Lato"/>
              <a:sym typeface="Lato"/>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