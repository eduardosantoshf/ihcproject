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embeddedFontLst>
    <p:embeddedFont>
      <p:font typeface="Lato" panose="020F0502020204030203" pitchFamily="34" charset="77"/>
      <p:regular r:id="rId24"/>
      <p:bold r:id="rId25"/>
      <p:italic r:id="rId26"/>
      <p:boldItalic r:id="rId27"/>
    </p:embeddedFont>
    <p:embeddedFont>
      <p:font typeface="Raleway" panose="020B0503030101060003" pitchFamily="34" charset="77"/>
      <p:regular r:id="rId28"/>
      <p:bold r:id="rId29"/>
      <p:italic r:id="rId30"/>
      <p:boldItalic r:id="rId31"/>
    </p:embeddedFont>
    <p:embeddedFont>
      <p:font typeface="Roboto" panose="020000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61" d="100"/>
          <a:sy n="161" d="100"/>
        </p:scale>
        <p:origin x="784" y="20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87e0a9af3d_0_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87e0a9af3d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87e0a9af3d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87e0a9af3d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87e0a9af3d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87e0a9af3d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87e0a9af3d_1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87e0a9af3d_1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87e0a9af3d_3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87e0a9af3d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87e0a9af3d_1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87e0a9af3d_1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87e0a9af3d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87e0a9af3d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87e0a9af3d_1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87e0a9af3d_1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87e0a9af3d_1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87e0a9af3d_1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87e0a9af3d_1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87e0a9af3d_1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87e0a9af3d_1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87e0a9af3d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80a19c8d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80a19c8d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880a19c8de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880a19c8de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880a19c8de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880a19c8de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880a19c8de_1_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880a19c8de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g880a19c8de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 name="Google Shape;218;g880a19c8d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880a19c8de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4" name="Google Shape;224;g880a19c8de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87e0a9af3d_1_1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87e0a9af3d_1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880a19c8de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880a19c8d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87e0a9af3d_1_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87e0a9af3d_1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1600"/>
              </a:spcBef>
              <a:spcAft>
                <a:spcPts val="0"/>
              </a:spcAft>
              <a:buClr>
                <a:schemeClr val="lt1"/>
              </a:buClr>
              <a:buSzPts val="1100"/>
              <a:buChar char="○"/>
              <a:defRPr>
                <a:solidFill>
                  <a:schemeClr val="lt1"/>
                </a:solidFill>
              </a:defRPr>
            </a:lvl2pPr>
            <a:lvl3pPr marL="1371600" lvl="2" indent="-298450">
              <a:spcBef>
                <a:spcPts val="1600"/>
              </a:spcBef>
              <a:spcAft>
                <a:spcPts val="0"/>
              </a:spcAft>
              <a:buClr>
                <a:schemeClr val="lt1"/>
              </a:buClr>
              <a:buSzPts val="1100"/>
              <a:buChar char="■"/>
              <a:defRPr>
                <a:solidFill>
                  <a:schemeClr val="lt1"/>
                </a:solidFill>
              </a:defRPr>
            </a:lvl3pPr>
            <a:lvl4pPr marL="1828800" lvl="3" indent="-298450">
              <a:spcBef>
                <a:spcPts val="1600"/>
              </a:spcBef>
              <a:spcAft>
                <a:spcPts val="0"/>
              </a:spcAft>
              <a:buClr>
                <a:schemeClr val="lt1"/>
              </a:buClr>
              <a:buSzPts val="1100"/>
              <a:buChar char="●"/>
              <a:defRPr>
                <a:solidFill>
                  <a:schemeClr val="lt1"/>
                </a:solidFill>
              </a:defRPr>
            </a:lvl4pPr>
            <a:lvl5pPr marL="2286000" lvl="4" indent="-298450">
              <a:spcBef>
                <a:spcPts val="1600"/>
              </a:spcBef>
              <a:spcAft>
                <a:spcPts val="0"/>
              </a:spcAft>
              <a:buClr>
                <a:schemeClr val="lt1"/>
              </a:buClr>
              <a:buSzPts val="1100"/>
              <a:buChar char="○"/>
              <a:defRPr>
                <a:solidFill>
                  <a:schemeClr val="lt1"/>
                </a:solidFill>
              </a:defRPr>
            </a:lvl5pPr>
            <a:lvl6pPr marL="2743200" lvl="5" indent="-298450">
              <a:spcBef>
                <a:spcPts val="1600"/>
              </a:spcBef>
              <a:spcAft>
                <a:spcPts val="0"/>
              </a:spcAft>
              <a:buClr>
                <a:schemeClr val="lt1"/>
              </a:buClr>
              <a:buSzPts val="1100"/>
              <a:buChar char="■"/>
              <a:defRPr>
                <a:solidFill>
                  <a:schemeClr val="lt1"/>
                </a:solidFill>
              </a:defRPr>
            </a:lvl6pPr>
            <a:lvl7pPr marL="3200400" lvl="6" indent="-298450">
              <a:spcBef>
                <a:spcPts val="1600"/>
              </a:spcBef>
              <a:spcAft>
                <a:spcPts val="0"/>
              </a:spcAft>
              <a:buClr>
                <a:schemeClr val="lt1"/>
              </a:buClr>
              <a:buSzPts val="1100"/>
              <a:buChar char="●"/>
              <a:defRPr>
                <a:solidFill>
                  <a:schemeClr val="lt1"/>
                </a:solidFill>
              </a:defRPr>
            </a:lvl7pPr>
            <a:lvl8pPr marL="3657600" lvl="7" indent="-298450">
              <a:spcBef>
                <a:spcPts val="1600"/>
              </a:spcBef>
              <a:spcAft>
                <a:spcPts val="0"/>
              </a:spcAft>
              <a:buClr>
                <a:schemeClr val="lt1"/>
              </a:buClr>
              <a:buSzPts val="1100"/>
              <a:buChar char="○"/>
              <a:defRPr>
                <a:solidFill>
                  <a:schemeClr val="lt1"/>
                </a:solidFill>
              </a:defRPr>
            </a:lvl8pPr>
            <a:lvl9pPr marL="4114800" lvl="8" indent="-298450">
              <a:spcBef>
                <a:spcPts val="1600"/>
              </a:spcBef>
              <a:spcAft>
                <a:spcPts val="160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P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SzPts val="2800"/>
              <a:buFont typeface="Raleway"/>
              <a:buNone/>
              <a:defRPr sz="2800" b="1">
                <a:latin typeface="Raleway"/>
                <a:ea typeface="Raleway"/>
                <a:cs typeface="Raleway"/>
                <a:sym typeface="Raleway"/>
              </a:defRPr>
            </a:lvl1pPr>
            <a:lvl2pPr lvl="1">
              <a:spcBef>
                <a:spcPts val="0"/>
              </a:spcBef>
              <a:spcAft>
                <a:spcPts val="0"/>
              </a:spcAft>
              <a:buSzPts val="2800"/>
              <a:buFont typeface="Raleway"/>
              <a:buNone/>
              <a:defRPr sz="2800" b="1">
                <a:latin typeface="Raleway"/>
                <a:ea typeface="Raleway"/>
                <a:cs typeface="Raleway"/>
                <a:sym typeface="Raleway"/>
              </a:defRPr>
            </a:lvl2pPr>
            <a:lvl3pPr lvl="2">
              <a:spcBef>
                <a:spcPts val="0"/>
              </a:spcBef>
              <a:spcAft>
                <a:spcPts val="0"/>
              </a:spcAft>
              <a:buSzPts val="2800"/>
              <a:buFont typeface="Raleway"/>
              <a:buNone/>
              <a:defRPr sz="2800" b="1">
                <a:latin typeface="Raleway"/>
                <a:ea typeface="Raleway"/>
                <a:cs typeface="Raleway"/>
                <a:sym typeface="Raleway"/>
              </a:defRPr>
            </a:lvl3pPr>
            <a:lvl4pPr lvl="3">
              <a:spcBef>
                <a:spcPts val="0"/>
              </a:spcBef>
              <a:spcAft>
                <a:spcPts val="0"/>
              </a:spcAft>
              <a:buSzPts val="2800"/>
              <a:buFont typeface="Raleway"/>
              <a:buNone/>
              <a:defRPr sz="2800" b="1">
                <a:latin typeface="Raleway"/>
                <a:ea typeface="Raleway"/>
                <a:cs typeface="Raleway"/>
                <a:sym typeface="Raleway"/>
              </a:defRPr>
            </a:lvl4pPr>
            <a:lvl5pPr lvl="4">
              <a:spcBef>
                <a:spcPts val="0"/>
              </a:spcBef>
              <a:spcAft>
                <a:spcPts val="0"/>
              </a:spcAft>
              <a:buSzPts val="2800"/>
              <a:buFont typeface="Raleway"/>
              <a:buNone/>
              <a:defRPr sz="2800" b="1">
                <a:latin typeface="Raleway"/>
                <a:ea typeface="Raleway"/>
                <a:cs typeface="Raleway"/>
                <a:sym typeface="Raleway"/>
              </a:defRPr>
            </a:lvl5pPr>
            <a:lvl6pPr lvl="5">
              <a:spcBef>
                <a:spcPts val="0"/>
              </a:spcBef>
              <a:spcAft>
                <a:spcPts val="0"/>
              </a:spcAft>
              <a:buSzPts val="2800"/>
              <a:buFont typeface="Raleway"/>
              <a:buNone/>
              <a:defRPr sz="2800" b="1">
                <a:latin typeface="Raleway"/>
                <a:ea typeface="Raleway"/>
                <a:cs typeface="Raleway"/>
                <a:sym typeface="Raleway"/>
              </a:defRPr>
            </a:lvl6pPr>
            <a:lvl7pPr lvl="6">
              <a:spcBef>
                <a:spcPts val="0"/>
              </a:spcBef>
              <a:spcAft>
                <a:spcPts val="0"/>
              </a:spcAft>
              <a:buSzPts val="2800"/>
              <a:buFont typeface="Raleway"/>
              <a:buNone/>
              <a:defRPr sz="2800" b="1">
                <a:latin typeface="Raleway"/>
                <a:ea typeface="Raleway"/>
                <a:cs typeface="Raleway"/>
                <a:sym typeface="Raleway"/>
              </a:defRPr>
            </a:lvl7pPr>
            <a:lvl8pPr lvl="7">
              <a:spcBef>
                <a:spcPts val="0"/>
              </a:spcBef>
              <a:spcAft>
                <a:spcPts val="0"/>
              </a:spcAft>
              <a:buSzPts val="2800"/>
              <a:buFont typeface="Raleway"/>
              <a:buNone/>
              <a:defRPr sz="2800" b="1">
                <a:latin typeface="Raleway"/>
                <a:ea typeface="Raleway"/>
                <a:cs typeface="Raleway"/>
                <a:sym typeface="Raleway"/>
              </a:defRPr>
            </a:lvl8pPr>
            <a:lvl9pPr lvl="8">
              <a:spcBef>
                <a:spcPts val="0"/>
              </a:spcBef>
              <a:spcAft>
                <a:spcPts val="0"/>
              </a:spcAft>
              <a:buSzPts val="2800"/>
              <a:buFont typeface="Raleway"/>
              <a:buNone/>
              <a:defRPr sz="2800" b="1">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pt-PT"/>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3"/>
          <p:cNvPicPr preferRelativeResize="0"/>
          <p:nvPr/>
        </p:nvPicPr>
        <p:blipFill>
          <a:blip r:embed="rId3">
            <a:alphaModFix/>
          </a:blip>
          <a:stretch>
            <a:fillRect/>
          </a:stretch>
        </p:blipFill>
        <p:spPr>
          <a:xfrm>
            <a:off x="3540400" y="875825"/>
            <a:ext cx="1905000" cy="1905000"/>
          </a:xfrm>
          <a:prstGeom prst="rect">
            <a:avLst/>
          </a:prstGeom>
          <a:noFill/>
          <a:ln>
            <a:noFill/>
          </a:ln>
          <a:effectLst>
            <a:reflection endPos="12000" fadeDir="5400012" sy="-100000" algn="bl" rotWithShape="0"/>
          </a:effectLst>
        </p:spPr>
      </p:pic>
      <p:sp>
        <p:nvSpPr>
          <p:cNvPr id="87" name="Google Shape;87;p13"/>
          <p:cNvSpPr txBox="1"/>
          <p:nvPr/>
        </p:nvSpPr>
        <p:spPr>
          <a:xfrm>
            <a:off x="305175" y="4002125"/>
            <a:ext cx="5390100" cy="972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sz="1800" b="1"/>
              <a:t>Project Title:  </a:t>
            </a:r>
            <a:r>
              <a:rPr lang="pt-PT" sz="1800"/>
              <a:t>Muse-IC</a:t>
            </a:r>
            <a:endParaRPr sz="1800"/>
          </a:p>
          <a:p>
            <a:pPr marL="0" lvl="0" indent="0" algn="l" rtl="0">
              <a:lnSpc>
                <a:spcPct val="115000"/>
              </a:lnSpc>
              <a:spcBef>
                <a:spcPts val="0"/>
              </a:spcBef>
              <a:spcAft>
                <a:spcPts val="0"/>
              </a:spcAft>
              <a:buNone/>
            </a:pPr>
            <a:r>
              <a:rPr lang="pt-PT" sz="1800" b="1"/>
              <a:t>Group: </a:t>
            </a:r>
            <a:r>
              <a:rPr lang="pt-PT" sz="1800"/>
              <a:t>Pedro, Wei, Eduardo</a:t>
            </a:r>
            <a:endParaRPr sz="1800"/>
          </a:p>
          <a:p>
            <a:pPr marL="0" lvl="0" indent="0" algn="l" rtl="0">
              <a:lnSpc>
                <a:spcPct val="115000"/>
              </a:lnSpc>
              <a:spcBef>
                <a:spcPts val="0"/>
              </a:spcBef>
              <a:spcAft>
                <a:spcPts val="0"/>
              </a:spcAft>
              <a:buNone/>
            </a:pPr>
            <a:r>
              <a:rPr lang="pt-PT" sz="1800" b="1"/>
              <a:t>Lab Class: </a:t>
            </a:r>
            <a:r>
              <a:rPr lang="pt-PT" sz="1800"/>
              <a:t>P7</a:t>
            </a:r>
            <a:endParaRPr sz="1800"/>
          </a:p>
        </p:txBody>
      </p:sp>
      <p:sp>
        <p:nvSpPr>
          <p:cNvPr id="88" name="Google Shape;88;p13"/>
          <p:cNvSpPr txBox="1"/>
          <p:nvPr/>
        </p:nvSpPr>
        <p:spPr>
          <a:xfrm>
            <a:off x="2598300" y="2849225"/>
            <a:ext cx="4329000" cy="65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sz="2700">
                <a:solidFill>
                  <a:schemeClr val="accent2"/>
                </a:solidFill>
                <a:latin typeface="Lato"/>
                <a:ea typeface="Lato"/>
                <a:cs typeface="Lato"/>
                <a:sym typeface="Lato"/>
              </a:rPr>
              <a:t>Creation Of A Music App</a:t>
            </a:r>
            <a:endParaRPr sz="2700">
              <a:solidFill>
                <a:schemeClr val="accent2"/>
              </a:solidFill>
              <a:latin typeface="Lato"/>
              <a:ea typeface="Lato"/>
              <a:cs typeface="Lato"/>
              <a:sym typeface="Lato"/>
            </a:endParaRPr>
          </a:p>
        </p:txBody>
      </p:sp>
      <p:sp>
        <p:nvSpPr>
          <p:cNvPr id="89" name="Google Shape;89;p13"/>
          <p:cNvSpPr txBox="1"/>
          <p:nvPr/>
        </p:nvSpPr>
        <p:spPr>
          <a:xfrm>
            <a:off x="1526100" y="3357850"/>
            <a:ext cx="6091800" cy="38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a:latin typeface="Lato"/>
                <a:ea typeface="Lato"/>
                <a:cs typeface="Lato"/>
                <a:sym typeface="Lato"/>
              </a:rPr>
              <a:t>Design and prototyping of an application using a human-centered approach</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654900" y="64777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Introduction</a:t>
            </a:r>
            <a:endParaRPr/>
          </a:p>
        </p:txBody>
      </p:sp>
      <p:sp>
        <p:nvSpPr>
          <p:cNvPr id="95" name="Google Shape;95;p14"/>
          <p:cNvSpPr txBox="1">
            <a:spLocks noGrp="1"/>
          </p:cNvSpPr>
          <p:nvPr>
            <p:ph type="body" idx="1"/>
          </p:nvPr>
        </p:nvSpPr>
        <p:spPr>
          <a:xfrm>
            <a:off x="522400" y="15653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latin typeface="Raleway"/>
                <a:ea typeface="Raleway"/>
                <a:cs typeface="Raleway"/>
                <a:sym typeface="Raleway"/>
              </a:rPr>
              <a:t>App where users can listen to or upload their own songs/podcasts</a:t>
            </a:r>
            <a:endParaRPr>
              <a:latin typeface="Raleway"/>
              <a:ea typeface="Raleway"/>
              <a:cs typeface="Raleway"/>
              <a:sym typeface="Raleway"/>
            </a:endParaRPr>
          </a:p>
          <a:p>
            <a:pPr marL="0" lvl="0" indent="0" algn="l" rtl="0">
              <a:spcBef>
                <a:spcPts val="1600"/>
              </a:spcBef>
              <a:spcAft>
                <a:spcPts val="0"/>
              </a:spcAft>
              <a:buNone/>
            </a:pPr>
            <a:r>
              <a:rPr lang="pt-PT">
                <a:latin typeface="Raleway"/>
                <a:ea typeface="Raleway"/>
                <a:cs typeface="Raleway"/>
                <a:sym typeface="Raleway"/>
              </a:rPr>
              <a:t>Most Music Apps Don’t Allow for both functionalities</a:t>
            </a:r>
            <a:endParaRPr>
              <a:latin typeface="Raleway"/>
              <a:ea typeface="Raleway"/>
              <a:cs typeface="Raleway"/>
              <a:sym typeface="Raleway"/>
            </a:endParaRPr>
          </a:p>
          <a:p>
            <a:pPr marL="457200" lvl="0" indent="-298450" algn="l" rtl="0">
              <a:lnSpc>
                <a:spcPct val="150000"/>
              </a:lnSpc>
              <a:spcBef>
                <a:spcPts val="1600"/>
              </a:spcBef>
              <a:spcAft>
                <a:spcPts val="0"/>
              </a:spcAft>
              <a:buClr>
                <a:srgbClr val="000000"/>
              </a:buClr>
              <a:buSzPts val="1100"/>
              <a:buFont typeface="Raleway"/>
              <a:buChar char="●"/>
            </a:pPr>
            <a:r>
              <a:rPr lang="pt-PT" sz="1100">
                <a:solidFill>
                  <a:srgbClr val="000000"/>
                </a:solidFill>
                <a:latin typeface="Raleway"/>
                <a:ea typeface="Raleway"/>
                <a:cs typeface="Raleway"/>
                <a:sym typeface="Raleway"/>
              </a:rPr>
              <a:t>2 Main Users:</a:t>
            </a:r>
            <a:endParaRPr sz="1100">
              <a:solidFill>
                <a:srgbClr val="000000"/>
              </a:solidFill>
              <a:latin typeface="Raleway"/>
              <a:ea typeface="Raleway"/>
              <a:cs typeface="Raleway"/>
              <a:sym typeface="Raleway"/>
            </a:endParaRPr>
          </a:p>
          <a:p>
            <a:pPr marL="914400" lvl="1" indent="-298450" algn="l" rtl="0">
              <a:lnSpc>
                <a:spcPct val="150000"/>
              </a:lnSpc>
              <a:spcBef>
                <a:spcPts val="0"/>
              </a:spcBef>
              <a:spcAft>
                <a:spcPts val="0"/>
              </a:spcAft>
              <a:buClr>
                <a:srgbClr val="000000"/>
              </a:buClr>
              <a:buSzPts val="1100"/>
              <a:buFont typeface="Arial"/>
              <a:buChar char="○"/>
            </a:pPr>
            <a:r>
              <a:rPr lang="pt-PT" b="1">
                <a:solidFill>
                  <a:srgbClr val="000000"/>
                </a:solidFill>
                <a:latin typeface="Raleway"/>
                <a:ea typeface="Raleway"/>
                <a:cs typeface="Raleway"/>
                <a:sym typeface="Raleway"/>
              </a:rPr>
              <a:t>Listener</a:t>
            </a:r>
            <a:r>
              <a:rPr lang="pt-PT">
                <a:solidFill>
                  <a:srgbClr val="000000"/>
                </a:solidFill>
                <a:latin typeface="Raleway"/>
                <a:ea typeface="Raleway"/>
                <a:cs typeface="Raleway"/>
                <a:sym typeface="Raleway"/>
              </a:rPr>
              <a:t>: App usage includes listening to music, podcasts, creating playlists and reading lyrics</a:t>
            </a:r>
            <a:endParaRPr>
              <a:solidFill>
                <a:srgbClr val="000000"/>
              </a:solidFill>
              <a:latin typeface="Raleway"/>
              <a:ea typeface="Raleway"/>
              <a:cs typeface="Raleway"/>
              <a:sym typeface="Raleway"/>
            </a:endParaRPr>
          </a:p>
          <a:p>
            <a:pPr marL="914400" lvl="1" indent="-298450" algn="l" rtl="0">
              <a:lnSpc>
                <a:spcPct val="150000"/>
              </a:lnSpc>
              <a:spcBef>
                <a:spcPts val="0"/>
              </a:spcBef>
              <a:spcAft>
                <a:spcPts val="0"/>
              </a:spcAft>
              <a:buClr>
                <a:srgbClr val="000000"/>
              </a:buClr>
              <a:buSzPts val="1100"/>
              <a:buFont typeface="Arial"/>
              <a:buChar char="○"/>
            </a:pPr>
            <a:r>
              <a:rPr lang="pt-PT" b="1">
                <a:solidFill>
                  <a:srgbClr val="000000"/>
                </a:solidFill>
                <a:latin typeface="Raleway"/>
                <a:ea typeface="Raleway"/>
                <a:cs typeface="Raleway"/>
                <a:sym typeface="Raleway"/>
              </a:rPr>
              <a:t>Artist</a:t>
            </a:r>
            <a:r>
              <a:rPr lang="pt-PT">
                <a:solidFill>
                  <a:srgbClr val="000000"/>
                </a:solidFill>
                <a:latin typeface="Raleway"/>
                <a:ea typeface="Raleway"/>
                <a:cs typeface="Raleway"/>
                <a:sym typeface="Raleway"/>
              </a:rPr>
              <a:t>: App usage includes content sharing and stats overview</a:t>
            </a:r>
            <a:endParaRPr>
              <a:solidFill>
                <a:srgbClr val="000000"/>
              </a:solidFill>
              <a:latin typeface="Raleway"/>
              <a:ea typeface="Raleway"/>
              <a:cs typeface="Raleway"/>
              <a:sym typeface="Raleway"/>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pic>
        <p:nvPicPr>
          <p:cNvPr id="96" name="Google Shape;96;p14"/>
          <p:cNvPicPr preferRelativeResize="0"/>
          <p:nvPr/>
        </p:nvPicPr>
        <p:blipFill>
          <a:blip r:embed="rId3">
            <a:alphaModFix/>
          </a:blip>
          <a:stretch>
            <a:fillRect/>
          </a:stretch>
        </p:blipFill>
        <p:spPr>
          <a:xfrm>
            <a:off x="6219375" y="803600"/>
            <a:ext cx="1872500" cy="1872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5"/>
          <p:cNvSpPr txBox="1">
            <a:spLocks noGrp="1"/>
          </p:cNvSpPr>
          <p:nvPr>
            <p:ph type="body" idx="1"/>
          </p:nvPr>
        </p:nvSpPr>
        <p:spPr>
          <a:xfrm>
            <a:off x="688025" y="1345850"/>
            <a:ext cx="7688700" cy="22611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AutoNum type="arabicPeriod"/>
            </a:pPr>
            <a:r>
              <a:rPr lang="pt-PT">
                <a:latin typeface="Raleway"/>
                <a:ea typeface="Raleway"/>
                <a:cs typeface="Raleway"/>
                <a:sym typeface="Raleway"/>
              </a:rPr>
              <a:t>Create an overall better app that includes many features from top music streaming and music sharing apps like </a:t>
            </a:r>
            <a:r>
              <a:rPr lang="pt-PT" b="1">
                <a:latin typeface="Raleway"/>
                <a:ea typeface="Raleway"/>
                <a:cs typeface="Raleway"/>
                <a:sym typeface="Raleway"/>
              </a:rPr>
              <a:t>Spotify, Apple Music/iTunes and Soundcloud</a:t>
            </a:r>
            <a:endParaRPr b="1">
              <a:latin typeface="Raleway"/>
              <a:ea typeface="Raleway"/>
              <a:cs typeface="Raleway"/>
              <a:sym typeface="Raleway"/>
            </a:endParaRPr>
          </a:p>
          <a:p>
            <a:pPr marL="457200" lvl="0" indent="-311150" algn="l" rtl="0">
              <a:lnSpc>
                <a:spcPct val="150000"/>
              </a:lnSpc>
              <a:spcBef>
                <a:spcPts val="0"/>
              </a:spcBef>
              <a:spcAft>
                <a:spcPts val="0"/>
              </a:spcAft>
              <a:buSzPts val="1300"/>
              <a:buAutoNum type="arabicPeriod"/>
            </a:pPr>
            <a:r>
              <a:rPr lang="pt-PT">
                <a:latin typeface="Raleway"/>
                <a:ea typeface="Raleway"/>
                <a:cs typeface="Raleway"/>
                <a:sym typeface="Raleway"/>
              </a:rPr>
              <a:t>Create A </a:t>
            </a:r>
            <a:r>
              <a:rPr lang="pt-PT" b="1">
                <a:latin typeface="Raleway"/>
                <a:ea typeface="Raleway"/>
                <a:cs typeface="Raleway"/>
                <a:sym typeface="Raleway"/>
              </a:rPr>
              <a:t>Social Network For User’s Do Develop </a:t>
            </a:r>
            <a:r>
              <a:rPr lang="pt-PT">
                <a:latin typeface="Raleway"/>
                <a:ea typeface="Raleway"/>
                <a:cs typeface="Raleway"/>
                <a:sym typeface="Raleway"/>
              </a:rPr>
              <a:t>Their Capabilities And Improve Their Performance</a:t>
            </a:r>
            <a:endParaRPr>
              <a:latin typeface="Raleway"/>
              <a:ea typeface="Raleway"/>
              <a:cs typeface="Raleway"/>
              <a:sym typeface="Raleway"/>
            </a:endParaRPr>
          </a:p>
          <a:p>
            <a:pPr marL="0" lvl="0" indent="0" algn="l" rtl="0">
              <a:spcBef>
                <a:spcPts val="1600"/>
              </a:spcBef>
              <a:spcAft>
                <a:spcPts val="1600"/>
              </a:spcAft>
              <a:buNone/>
            </a:pPr>
            <a:endParaRPr/>
          </a:p>
        </p:txBody>
      </p:sp>
      <p:pic>
        <p:nvPicPr>
          <p:cNvPr id="102" name="Google Shape;102;p15"/>
          <p:cNvPicPr preferRelativeResize="0"/>
          <p:nvPr/>
        </p:nvPicPr>
        <p:blipFill>
          <a:blip r:embed="rId3">
            <a:alphaModFix/>
          </a:blip>
          <a:stretch>
            <a:fillRect/>
          </a:stretch>
        </p:blipFill>
        <p:spPr>
          <a:xfrm rot="-1250441">
            <a:off x="5175425" y="2839075"/>
            <a:ext cx="1448851" cy="1448851"/>
          </a:xfrm>
          <a:prstGeom prst="rect">
            <a:avLst/>
          </a:prstGeom>
          <a:noFill/>
          <a:ln>
            <a:noFill/>
          </a:ln>
        </p:spPr>
      </p:pic>
      <p:pic>
        <p:nvPicPr>
          <p:cNvPr id="103" name="Google Shape;103;p15"/>
          <p:cNvPicPr preferRelativeResize="0"/>
          <p:nvPr/>
        </p:nvPicPr>
        <p:blipFill>
          <a:blip r:embed="rId4">
            <a:alphaModFix/>
          </a:blip>
          <a:stretch>
            <a:fillRect/>
          </a:stretch>
        </p:blipFill>
        <p:spPr>
          <a:xfrm rot="2332739">
            <a:off x="6822495" y="2718445"/>
            <a:ext cx="1554456" cy="1554456"/>
          </a:xfrm>
          <a:prstGeom prst="rect">
            <a:avLst/>
          </a:prstGeom>
          <a:noFill/>
          <a:ln>
            <a:noFill/>
          </a:ln>
        </p:spPr>
      </p:pic>
      <p:pic>
        <p:nvPicPr>
          <p:cNvPr id="104" name="Google Shape;104;p15"/>
          <p:cNvPicPr preferRelativeResize="0"/>
          <p:nvPr/>
        </p:nvPicPr>
        <p:blipFill>
          <a:blip r:embed="rId5">
            <a:alphaModFix/>
          </a:blip>
          <a:stretch>
            <a:fillRect/>
          </a:stretch>
        </p:blipFill>
        <p:spPr>
          <a:xfrm>
            <a:off x="5898350" y="3085145"/>
            <a:ext cx="1735850" cy="1735850"/>
          </a:xfrm>
          <a:prstGeom prst="rect">
            <a:avLst/>
          </a:prstGeom>
          <a:noFill/>
          <a:ln>
            <a:noFill/>
          </a:ln>
        </p:spPr>
      </p:pic>
      <p:sp>
        <p:nvSpPr>
          <p:cNvPr id="105" name="Google Shape;105;p15"/>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Project Objectives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body" idx="1"/>
          </p:nvPr>
        </p:nvSpPr>
        <p:spPr>
          <a:xfrm>
            <a:off x="2714700" y="1752100"/>
            <a:ext cx="5845200" cy="2468400"/>
          </a:xfrm>
          <a:prstGeom prst="rect">
            <a:avLst/>
          </a:prstGeom>
        </p:spPr>
        <p:txBody>
          <a:bodyPr spcFirstLastPara="1" wrap="square" lIns="91425" tIns="91425" rIns="91425" bIns="91425" anchor="ctr" anchorCtr="0">
            <a:noAutofit/>
          </a:bodyPr>
          <a:lstStyle/>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Name:</a:t>
            </a:r>
            <a:r>
              <a:rPr lang="pt-PT">
                <a:latin typeface="Raleway"/>
                <a:ea typeface="Raleway"/>
                <a:cs typeface="Raleway"/>
                <a:sym typeface="Raleway"/>
              </a:rPr>
              <a:t> Fransico Almeida</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Sex:</a:t>
            </a:r>
            <a:r>
              <a:rPr lang="pt-PT">
                <a:latin typeface="Raleway"/>
                <a:ea typeface="Raleway"/>
                <a:cs typeface="Raleway"/>
                <a:sym typeface="Raleway"/>
              </a:rPr>
              <a:t> M</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Age:</a:t>
            </a:r>
            <a:r>
              <a:rPr lang="pt-PT">
                <a:latin typeface="Raleway"/>
                <a:ea typeface="Raleway"/>
                <a:cs typeface="Raleway"/>
                <a:sym typeface="Raleway"/>
              </a:rPr>
              <a:t> 20</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Profession:</a:t>
            </a:r>
            <a:r>
              <a:rPr lang="pt-PT">
                <a:latin typeface="Raleway"/>
                <a:ea typeface="Raleway"/>
                <a:cs typeface="Raleway"/>
                <a:sym typeface="Raleway"/>
              </a:rPr>
              <a:t> University Student</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Backgound:</a:t>
            </a:r>
            <a:r>
              <a:rPr lang="pt-PT">
                <a:latin typeface="Raleway"/>
                <a:ea typeface="Raleway"/>
                <a:cs typeface="Raleway"/>
                <a:sym typeface="Raleway"/>
              </a:rPr>
              <a:t> Lives in Lista. During semesters lives alone in a department near the University. Francisco usually listens to music during the night, it’s something he loves to do while he studies, because otherwise he thinks the room is too quiet. After some searching he finds Muse-IC.</a:t>
            </a:r>
            <a:endParaRPr>
              <a:latin typeface="Raleway"/>
              <a:ea typeface="Raleway"/>
              <a:cs typeface="Raleway"/>
              <a:sym typeface="Raleway"/>
            </a:endParaRPr>
          </a:p>
        </p:txBody>
      </p:sp>
      <p:pic>
        <p:nvPicPr>
          <p:cNvPr id="111" name="Google Shape;111;p16"/>
          <p:cNvPicPr preferRelativeResize="0"/>
          <p:nvPr/>
        </p:nvPicPr>
        <p:blipFill>
          <a:blip r:embed="rId3">
            <a:alphaModFix/>
          </a:blip>
          <a:stretch>
            <a:fillRect/>
          </a:stretch>
        </p:blipFill>
        <p:spPr>
          <a:xfrm>
            <a:off x="780875" y="1481175"/>
            <a:ext cx="1817900" cy="2070625"/>
          </a:xfrm>
          <a:prstGeom prst="rect">
            <a:avLst/>
          </a:prstGeom>
          <a:noFill/>
          <a:ln>
            <a:noFill/>
          </a:ln>
        </p:spPr>
      </p:pic>
      <p:sp>
        <p:nvSpPr>
          <p:cNvPr id="112" name="Google Shape;112;p16"/>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Personas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Personas</a:t>
            </a:r>
            <a:endParaRPr/>
          </a:p>
        </p:txBody>
      </p:sp>
      <p:sp>
        <p:nvSpPr>
          <p:cNvPr id="118" name="Google Shape;118;p17"/>
          <p:cNvSpPr txBox="1">
            <a:spLocks noGrp="1"/>
          </p:cNvSpPr>
          <p:nvPr>
            <p:ph type="body" idx="1"/>
          </p:nvPr>
        </p:nvSpPr>
        <p:spPr>
          <a:xfrm>
            <a:off x="2672975" y="1289888"/>
            <a:ext cx="5562300" cy="2793300"/>
          </a:xfrm>
          <a:prstGeom prst="rect">
            <a:avLst/>
          </a:prstGeom>
        </p:spPr>
        <p:txBody>
          <a:bodyPr spcFirstLastPara="1" wrap="square" lIns="91425" tIns="91425" rIns="91425" bIns="91425" anchor="ctr" anchorCtr="0">
            <a:noAutofit/>
          </a:bodyPr>
          <a:lstStyle/>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Name:</a:t>
            </a:r>
            <a:r>
              <a:rPr lang="pt-PT">
                <a:latin typeface="Raleway"/>
                <a:ea typeface="Raleway"/>
                <a:cs typeface="Raleway"/>
                <a:sym typeface="Raleway"/>
              </a:rPr>
              <a:t> Ana Beatriz</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Sex: </a:t>
            </a:r>
            <a:r>
              <a:rPr lang="pt-PT">
                <a:latin typeface="Raleway"/>
                <a:ea typeface="Raleway"/>
                <a:cs typeface="Raleway"/>
                <a:sym typeface="Raleway"/>
              </a:rPr>
              <a:t>F</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Age:</a:t>
            </a:r>
            <a:r>
              <a:rPr lang="pt-PT">
                <a:latin typeface="Raleway"/>
                <a:ea typeface="Raleway"/>
                <a:cs typeface="Raleway"/>
                <a:sym typeface="Raleway"/>
              </a:rPr>
              <a:t> 22</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Profession: </a:t>
            </a:r>
            <a:r>
              <a:rPr lang="pt-PT">
                <a:latin typeface="Raleway"/>
                <a:ea typeface="Raleway"/>
                <a:cs typeface="Raleway"/>
                <a:sym typeface="Raleway"/>
              </a:rPr>
              <a:t>University Student</a:t>
            </a:r>
            <a:endParaRPr>
              <a:latin typeface="Raleway"/>
              <a:ea typeface="Raleway"/>
              <a:cs typeface="Raleway"/>
              <a:sym typeface="Raleway"/>
            </a:endParaRPr>
          </a:p>
          <a:p>
            <a:pPr marL="457200" lvl="0" indent="-311150" algn="l" rtl="0">
              <a:lnSpc>
                <a:spcPct val="150000"/>
              </a:lnSpc>
              <a:spcBef>
                <a:spcPts val="0"/>
              </a:spcBef>
              <a:spcAft>
                <a:spcPts val="0"/>
              </a:spcAft>
              <a:buSzPts val="1300"/>
              <a:buChar char="●"/>
            </a:pPr>
            <a:r>
              <a:rPr lang="pt-PT" b="1">
                <a:latin typeface="Raleway"/>
                <a:ea typeface="Raleway"/>
                <a:cs typeface="Raleway"/>
                <a:sym typeface="Raleway"/>
              </a:rPr>
              <a:t>Backgound: </a:t>
            </a:r>
            <a:r>
              <a:rPr lang="pt-PT">
                <a:solidFill>
                  <a:srgbClr val="666666"/>
                </a:solidFill>
                <a:latin typeface="Raleway"/>
                <a:ea typeface="Raleway"/>
                <a:cs typeface="Raleway"/>
                <a:sym typeface="Raleway"/>
              </a:rPr>
              <a:t>She likes to sing since she was little, everyone says she sings well. After entering college, she started making her music. She wants to share it with everybody, her friend Franscisco suggested that she should try Muse-ic, saying that it was a good way to improve her personal work on the music industry.</a:t>
            </a:r>
            <a:endParaRPr>
              <a:solidFill>
                <a:srgbClr val="666666"/>
              </a:solidFill>
              <a:latin typeface="Raleway"/>
              <a:ea typeface="Raleway"/>
              <a:cs typeface="Raleway"/>
              <a:sym typeface="Raleway"/>
            </a:endParaRPr>
          </a:p>
        </p:txBody>
      </p:sp>
      <p:pic>
        <p:nvPicPr>
          <p:cNvPr id="119" name="Google Shape;119;p17"/>
          <p:cNvPicPr preferRelativeResize="0"/>
          <p:nvPr/>
        </p:nvPicPr>
        <p:blipFill>
          <a:blip r:embed="rId3">
            <a:alphaModFix/>
          </a:blip>
          <a:stretch>
            <a:fillRect/>
          </a:stretch>
        </p:blipFill>
        <p:spPr>
          <a:xfrm>
            <a:off x="800850" y="1528750"/>
            <a:ext cx="1781175" cy="20859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body" idx="1"/>
          </p:nvPr>
        </p:nvSpPr>
        <p:spPr>
          <a:xfrm>
            <a:off x="727650" y="1407275"/>
            <a:ext cx="7688700" cy="2261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1600"/>
              </a:spcAft>
              <a:buNone/>
            </a:pPr>
            <a:r>
              <a:rPr lang="pt-PT">
                <a:solidFill>
                  <a:srgbClr val="000000"/>
                </a:solidFill>
                <a:latin typeface="Raleway"/>
                <a:ea typeface="Raleway"/>
                <a:cs typeface="Raleway"/>
                <a:sym typeface="Raleway"/>
              </a:rPr>
              <a:t>Francisco searches the desktop app to listen to music on the Web, and sees Muse-ic, considers it an interesting app that has desired features. He installs the app, creates an account, and starts using it. First of all, he wants to create a new playlist with the name "Estudo", which will contain soft musics to help him concentrate more on the study. He goes to the playlists page, clicks in Add button, writes "Estudo" in the text box and clicks in Create button, so the new playlist is created.</a:t>
            </a:r>
            <a:endParaRPr>
              <a:latin typeface="Raleway"/>
              <a:ea typeface="Raleway"/>
              <a:cs typeface="Raleway"/>
              <a:sym typeface="Raleway"/>
            </a:endParaRPr>
          </a:p>
        </p:txBody>
      </p:sp>
      <p:sp>
        <p:nvSpPr>
          <p:cNvPr id="125" name="Google Shape;125;p18"/>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Scenario for Francisco</a:t>
            </a:r>
            <a:endParaRPr/>
          </a:p>
        </p:txBody>
      </p:sp>
      <p:pic>
        <p:nvPicPr>
          <p:cNvPr id="126" name="Google Shape;126;p18"/>
          <p:cNvPicPr preferRelativeResize="0"/>
          <p:nvPr/>
        </p:nvPicPr>
        <p:blipFill>
          <a:blip r:embed="rId3">
            <a:alphaModFix/>
          </a:blip>
          <a:stretch>
            <a:fillRect/>
          </a:stretch>
        </p:blipFill>
        <p:spPr>
          <a:xfrm>
            <a:off x="6850700" y="234600"/>
            <a:ext cx="2070773" cy="1164799"/>
          </a:xfrm>
          <a:prstGeom prst="rect">
            <a:avLst/>
          </a:prstGeom>
          <a:noFill/>
          <a:ln>
            <a:noFill/>
          </a:ln>
        </p:spPr>
      </p:pic>
      <p:pic>
        <p:nvPicPr>
          <p:cNvPr id="127" name="Google Shape;127;p18"/>
          <p:cNvPicPr preferRelativeResize="0"/>
          <p:nvPr/>
        </p:nvPicPr>
        <p:blipFill>
          <a:blip r:embed="rId4">
            <a:alphaModFix/>
          </a:blip>
          <a:stretch>
            <a:fillRect/>
          </a:stretch>
        </p:blipFill>
        <p:spPr>
          <a:xfrm>
            <a:off x="40400" y="3296250"/>
            <a:ext cx="9063176" cy="1701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9"/>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solidFill>
                  <a:srgbClr val="000000"/>
                </a:solidFill>
              </a:rPr>
              <a:t>Scenario for Ana</a:t>
            </a:r>
            <a:endParaRPr/>
          </a:p>
        </p:txBody>
      </p:sp>
      <p:sp>
        <p:nvSpPr>
          <p:cNvPr id="133" name="Google Shape;133;p19"/>
          <p:cNvSpPr txBox="1"/>
          <p:nvPr/>
        </p:nvSpPr>
        <p:spPr>
          <a:xfrm>
            <a:off x="781850" y="1389175"/>
            <a:ext cx="7243800" cy="2133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sz="1300">
                <a:latin typeface="Raleway"/>
                <a:ea typeface="Raleway"/>
                <a:cs typeface="Raleway"/>
                <a:sym typeface="Raleway"/>
              </a:rPr>
              <a:t>Her friend Francisco said that he had started listening to music on Muse-IC, and suggested that he could also use it to share her musics on the net. She accepted the suggestion. She installs the app, creates an account, clicks the Upload button, chooses the previously recorded song that she thinks is the best of all and an image for cover, fills in the necessary information for the music, and at the end, clicks the Upload button to finish. The music appears in the Uploaded list.</a:t>
            </a:r>
            <a:endParaRPr sz="1300">
              <a:latin typeface="Raleway"/>
              <a:ea typeface="Raleway"/>
              <a:cs typeface="Raleway"/>
              <a:sym typeface="Raleway"/>
            </a:endParaRPr>
          </a:p>
        </p:txBody>
      </p:sp>
      <p:pic>
        <p:nvPicPr>
          <p:cNvPr id="134" name="Google Shape;134;p19"/>
          <p:cNvPicPr preferRelativeResize="0"/>
          <p:nvPr/>
        </p:nvPicPr>
        <p:blipFill>
          <a:blip r:embed="rId3">
            <a:alphaModFix/>
          </a:blip>
          <a:stretch>
            <a:fillRect/>
          </a:stretch>
        </p:blipFill>
        <p:spPr>
          <a:xfrm>
            <a:off x="6937100" y="292199"/>
            <a:ext cx="1917173" cy="1078399"/>
          </a:xfrm>
          <a:prstGeom prst="rect">
            <a:avLst/>
          </a:prstGeom>
          <a:noFill/>
          <a:ln>
            <a:noFill/>
          </a:ln>
        </p:spPr>
      </p:pic>
      <p:pic>
        <p:nvPicPr>
          <p:cNvPr id="135" name="Google Shape;135;p19"/>
          <p:cNvPicPr preferRelativeResize="0"/>
          <p:nvPr/>
        </p:nvPicPr>
        <p:blipFill>
          <a:blip r:embed="rId4">
            <a:alphaModFix/>
          </a:blip>
          <a:stretch>
            <a:fillRect/>
          </a:stretch>
        </p:blipFill>
        <p:spPr>
          <a:xfrm>
            <a:off x="313800" y="3224650"/>
            <a:ext cx="8516399" cy="18054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body" idx="1"/>
          </p:nvPr>
        </p:nvSpPr>
        <p:spPr>
          <a:xfrm>
            <a:off x="721225" y="1621525"/>
            <a:ext cx="3434700" cy="22611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b="1">
                <a:solidFill>
                  <a:srgbClr val="000000"/>
                </a:solidFill>
                <a:latin typeface="Raleway"/>
                <a:ea typeface="Raleway"/>
                <a:cs typeface="Raleway"/>
                <a:sym typeface="Raleway"/>
              </a:rPr>
              <a:t>Non-functional requirements:</a:t>
            </a:r>
            <a:endParaRPr b="1">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a:solidFill>
                  <a:srgbClr val="000000"/>
                </a:solidFill>
                <a:latin typeface="Raleway"/>
                <a:ea typeface="Raleway"/>
                <a:cs typeface="Raleway"/>
                <a:sym typeface="Raleway"/>
              </a:rPr>
              <a:t>Menu ‘help and documentation’</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a:solidFill>
                  <a:srgbClr val="000000"/>
                </a:solidFill>
                <a:latin typeface="Raleway"/>
                <a:ea typeface="Raleway"/>
                <a:cs typeface="Raleway"/>
                <a:sym typeface="Raleway"/>
              </a:rPr>
              <a:t>Using global symbols, for example '+' to add</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Easy to use</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Desktop app for windows</a:t>
            </a:r>
            <a:endParaRPr>
              <a:latin typeface="Raleway"/>
              <a:ea typeface="Raleway"/>
              <a:cs typeface="Raleway"/>
              <a:sym typeface="Raleway"/>
            </a:endParaRPr>
          </a:p>
        </p:txBody>
      </p:sp>
      <p:sp>
        <p:nvSpPr>
          <p:cNvPr id="141" name="Google Shape;141;p20"/>
          <p:cNvSpPr txBox="1"/>
          <p:nvPr/>
        </p:nvSpPr>
        <p:spPr>
          <a:xfrm>
            <a:off x="4894050" y="1581175"/>
            <a:ext cx="3173400" cy="2261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sz="1300" b="1">
                <a:latin typeface="Raleway"/>
                <a:ea typeface="Raleway"/>
                <a:cs typeface="Raleway"/>
                <a:sym typeface="Raleway"/>
              </a:rPr>
              <a:t>Functional Requirements/ App Features:</a:t>
            </a:r>
            <a:endParaRPr sz="1300" b="1">
              <a:latin typeface="Raleway"/>
              <a:ea typeface="Raleway"/>
              <a:cs typeface="Raleway"/>
              <a:sym typeface="Raleway"/>
            </a:endParaRPr>
          </a:p>
          <a:p>
            <a:pPr marL="457200" lvl="0" indent="-323850" algn="l" rtl="0">
              <a:lnSpc>
                <a:spcPct val="115000"/>
              </a:lnSpc>
              <a:spcBef>
                <a:spcPts val="0"/>
              </a:spcBef>
              <a:spcAft>
                <a:spcPts val="0"/>
              </a:spcAft>
              <a:buClr>
                <a:srgbClr val="595959"/>
              </a:buClr>
              <a:buSzPts val="1500"/>
              <a:buFont typeface="Raleway"/>
              <a:buChar char="●"/>
            </a:pPr>
            <a:r>
              <a:rPr lang="pt-PT" sz="1300">
                <a:latin typeface="Raleway"/>
                <a:ea typeface="Raleway"/>
                <a:cs typeface="Raleway"/>
                <a:sym typeface="Raleway"/>
              </a:rPr>
              <a:t>Play music</a:t>
            </a:r>
            <a:endParaRPr sz="1300">
              <a:latin typeface="Raleway"/>
              <a:ea typeface="Raleway"/>
              <a:cs typeface="Raleway"/>
              <a:sym typeface="Raleway"/>
            </a:endParaRPr>
          </a:p>
          <a:p>
            <a:pPr marL="457200" lvl="0" indent="-323850" algn="l" rtl="0">
              <a:lnSpc>
                <a:spcPct val="115000"/>
              </a:lnSpc>
              <a:spcBef>
                <a:spcPts val="0"/>
              </a:spcBef>
              <a:spcAft>
                <a:spcPts val="0"/>
              </a:spcAft>
              <a:buClr>
                <a:srgbClr val="595959"/>
              </a:buClr>
              <a:buSzPts val="1500"/>
              <a:buFont typeface="Raleway"/>
              <a:buChar char="●"/>
            </a:pPr>
            <a:r>
              <a:rPr lang="pt-PT" sz="1300">
                <a:latin typeface="Raleway"/>
                <a:ea typeface="Raleway"/>
                <a:cs typeface="Raleway"/>
                <a:sym typeface="Raleway"/>
              </a:rPr>
              <a:t>Follow artist</a:t>
            </a:r>
            <a:endParaRPr sz="1300">
              <a:latin typeface="Raleway"/>
              <a:ea typeface="Raleway"/>
              <a:cs typeface="Raleway"/>
              <a:sym typeface="Raleway"/>
            </a:endParaRPr>
          </a:p>
          <a:p>
            <a:pPr marL="457200" lvl="0" indent="-311150" algn="l" rtl="0">
              <a:lnSpc>
                <a:spcPct val="115000"/>
              </a:lnSpc>
              <a:spcBef>
                <a:spcPts val="0"/>
              </a:spcBef>
              <a:spcAft>
                <a:spcPts val="0"/>
              </a:spcAft>
              <a:buClr>
                <a:srgbClr val="000000"/>
              </a:buClr>
              <a:buSzPts val="1300"/>
              <a:buFont typeface="Raleway"/>
              <a:buChar char="●"/>
            </a:pPr>
            <a:r>
              <a:rPr lang="pt-PT" sz="1300">
                <a:latin typeface="Raleway"/>
                <a:ea typeface="Raleway"/>
                <a:cs typeface="Raleway"/>
                <a:sym typeface="Raleway"/>
              </a:rPr>
              <a:t>Like/Review</a:t>
            </a:r>
            <a:endParaRPr sz="1300">
              <a:latin typeface="Raleway"/>
              <a:ea typeface="Raleway"/>
              <a:cs typeface="Raleway"/>
              <a:sym typeface="Raleway"/>
            </a:endParaRPr>
          </a:p>
          <a:p>
            <a:pPr marL="457200" lvl="0" indent="-311150" algn="l" rtl="0">
              <a:lnSpc>
                <a:spcPct val="115000"/>
              </a:lnSpc>
              <a:spcBef>
                <a:spcPts val="0"/>
              </a:spcBef>
              <a:spcAft>
                <a:spcPts val="0"/>
              </a:spcAft>
              <a:buClr>
                <a:srgbClr val="000000"/>
              </a:buClr>
              <a:buSzPts val="1300"/>
              <a:buFont typeface="Raleway"/>
              <a:buChar char="●"/>
            </a:pPr>
            <a:r>
              <a:rPr lang="pt-PT" sz="1300">
                <a:latin typeface="Raleway"/>
                <a:ea typeface="Raleway"/>
                <a:cs typeface="Raleway"/>
                <a:sym typeface="Raleway"/>
              </a:rPr>
              <a:t>Playlists</a:t>
            </a:r>
            <a:endParaRPr sz="1300">
              <a:latin typeface="Raleway"/>
              <a:ea typeface="Raleway"/>
              <a:cs typeface="Raleway"/>
              <a:sym typeface="Raleway"/>
            </a:endParaRPr>
          </a:p>
          <a:p>
            <a:pPr marL="457200" lvl="0" indent="-323850" algn="l" rtl="0">
              <a:lnSpc>
                <a:spcPct val="115000"/>
              </a:lnSpc>
              <a:spcBef>
                <a:spcPts val="0"/>
              </a:spcBef>
              <a:spcAft>
                <a:spcPts val="0"/>
              </a:spcAft>
              <a:buClr>
                <a:srgbClr val="595959"/>
              </a:buClr>
              <a:buSzPts val="1500"/>
              <a:buFont typeface="Raleway"/>
              <a:buChar char="●"/>
            </a:pPr>
            <a:r>
              <a:rPr lang="pt-PT" sz="1300">
                <a:latin typeface="Raleway"/>
                <a:ea typeface="Raleway"/>
                <a:cs typeface="Raleway"/>
                <a:sym typeface="Raleway"/>
              </a:rPr>
              <a:t>Favourites</a:t>
            </a:r>
            <a:endParaRPr sz="1300">
              <a:latin typeface="Raleway"/>
              <a:ea typeface="Raleway"/>
              <a:cs typeface="Raleway"/>
              <a:sym typeface="Raleway"/>
            </a:endParaRPr>
          </a:p>
          <a:p>
            <a:pPr marL="457200" lvl="0" indent="-311150" algn="l" rtl="0">
              <a:lnSpc>
                <a:spcPct val="115000"/>
              </a:lnSpc>
              <a:spcBef>
                <a:spcPts val="0"/>
              </a:spcBef>
              <a:spcAft>
                <a:spcPts val="0"/>
              </a:spcAft>
              <a:buClr>
                <a:srgbClr val="595959"/>
              </a:buClr>
              <a:buSzPts val="1300"/>
              <a:buFont typeface="Raleway"/>
              <a:buChar char="●"/>
            </a:pPr>
            <a:r>
              <a:rPr lang="pt-PT" sz="1300">
                <a:latin typeface="Raleway"/>
                <a:ea typeface="Raleway"/>
                <a:cs typeface="Raleway"/>
                <a:sym typeface="Raleway"/>
              </a:rPr>
              <a:t>etc.</a:t>
            </a:r>
            <a:endParaRPr sz="1300">
              <a:latin typeface="Raleway"/>
              <a:ea typeface="Raleway"/>
              <a:cs typeface="Raleway"/>
              <a:sym typeface="Raleway"/>
            </a:endParaRPr>
          </a:p>
          <a:p>
            <a:pPr marL="457200" lvl="0" indent="0" algn="l" rtl="0">
              <a:lnSpc>
                <a:spcPct val="115000"/>
              </a:lnSpc>
              <a:spcBef>
                <a:spcPts val="0"/>
              </a:spcBef>
              <a:spcAft>
                <a:spcPts val="0"/>
              </a:spcAft>
              <a:buNone/>
            </a:pPr>
            <a:endParaRPr sz="1300">
              <a:solidFill>
                <a:srgbClr val="595959"/>
              </a:solidFill>
              <a:latin typeface="Lato"/>
              <a:ea typeface="Lato"/>
              <a:cs typeface="Lato"/>
              <a:sym typeface="Lato"/>
            </a:endParaRPr>
          </a:p>
        </p:txBody>
      </p:sp>
      <p:sp>
        <p:nvSpPr>
          <p:cNvPr id="142" name="Google Shape;142;p20"/>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Requirements</a:t>
            </a:r>
            <a:endParaRPr/>
          </a:p>
        </p:txBody>
      </p:sp>
      <p:pic>
        <p:nvPicPr>
          <p:cNvPr id="143" name="Google Shape;143;p20"/>
          <p:cNvPicPr preferRelativeResize="0"/>
          <p:nvPr/>
        </p:nvPicPr>
        <p:blipFill>
          <a:blip r:embed="rId3">
            <a:alphaModFix/>
          </a:blip>
          <a:stretch>
            <a:fillRect/>
          </a:stretch>
        </p:blipFill>
        <p:spPr>
          <a:xfrm>
            <a:off x="6357575" y="3270175"/>
            <a:ext cx="2413549" cy="14953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21"/>
          <p:cNvPicPr preferRelativeResize="0"/>
          <p:nvPr/>
        </p:nvPicPr>
        <p:blipFill>
          <a:blip r:embed="rId3">
            <a:alphaModFix/>
          </a:blip>
          <a:stretch>
            <a:fillRect/>
          </a:stretch>
        </p:blipFill>
        <p:spPr>
          <a:xfrm>
            <a:off x="6351025" y="1243700"/>
            <a:ext cx="723900" cy="723900"/>
          </a:xfrm>
          <a:prstGeom prst="rect">
            <a:avLst/>
          </a:prstGeom>
          <a:noFill/>
          <a:ln>
            <a:noFill/>
          </a:ln>
        </p:spPr>
      </p:pic>
      <p:sp>
        <p:nvSpPr>
          <p:cNvPr id="149" name="Google Shape;149;p21"/>
          <p:cNvSpPr txBox="1"/>
          <p:nvPr/>
        </p:nvSpPr>
        <p:spPr>
          <a:xfrm>
            <a:off x="688025" y="1329800"/>
            <a:ext cx="5483100" cy="637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sz="1300">
                <a:latin typeface="Raleway"/>
                <a:ea typeface="Raleway"/>
                <a:cs typeface="Raleway"/>
                <a:sym typeface="Raleway"/>
              </a:rPr>
              <a:t>For our prototype we used an app called </a:t>
            </a:r>
            <a:r>
              <a:rPr lang="pt-PT" sz="1300" b="1">
                <a:latin typeface="Raleway"/>
                <a:ea typeface="Raleway"/>
                <a:cs typeface="Raleway"/>
                <a:sym typeface="Raleway"/>
              </a:rPr>
              <a:t>Balsamiq</a:t>
            </a:r>
            <a:r>
              <a:rPr lang="pt-PT" sz="1300">
                <a:latin typeface="Raleway"/>
                <a:ea typeface="Raleway"/>
                <a:cs typeface="Raleway"/>
                <a:sym typeface="Raleway"/>
              </a:rPr>
              <a:t>, which we considered to be a good choice according to what we pretended to develop</a:t>
            </a:r>
            <a:endParaRPr sz="1300">
              <a:latin typeface="Raleway"/>
              <a:ea typeface="Raleway"/>
              <a:cs typeface="Raleway"/>
              <a:sym typeface="Raleway"/>
            </a:endParaRPr>
          </a:p>
        </p:txBody>
      </p:sp>
      <p:sp>
        <p:nvSpPr>
          <p:cNvPr id="150" name="Google Shape;150;p21"/>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Low Fidelity Prototype</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p:txBody>
      </p:sp>
      <p:pic>
        <p:nvPicPr>
          <p:cNvPr id="151" name="Google Shape;151;p21"/>
          <p:cNvPicPr preferRelativeResize="0"/>
          <p:nvPr/>
        </p:nvPicPr>
        <p:blipFill>
          <a:blip r:embed="rId4">
            <a:alphaModFix/>
          </a:blip>
          <a:stretch>
            <a:fillRect/>
          </a:stretch>
        </p:blipFill>
        <p:spPr>
          <a:xfrm>
            <a:off x="788875" y="2432871"/>
            <a:ext cx="3582629" cy="2462553"/>
          </a:xfrm>
          <a:prstGeom prst="rect">
            <a:avLst/>
          </a:prstGeom>
          <a:noFill/>
          <a:ln>
            <a:noFill/>
          </a:ln>
        </p:spPr>
      </p:pic>
      <p:sp>
        <p:nvSpPr>
          <p:cNvPr id="152" name="Google Shape;152;p21"/>
          <p:cNvSpPr txBox="1"/>
          <p:nvPr/>
        </p:nvSpPr>
        <p:spPr>
          <a:xfrm>
            <a:off x="1868135" y="2043713"/>
            <a:ext cx="1530000" cy="2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a:latin typeface="Lato"/>
                <a:ea typeface="Lato"/>
                <a:cs typeface="Lato"/>
                <a:sym typeface="Lato"/>
              </a:rPr>
              <a:t>Upload a music</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pic>
        <p:nvPicPr>
          <p:cNvPr id="153" name="Google Shape;153;p21"/>
          <p:cNvPicPr preferRelativeResize="0"/>
          <p:nvPr/>
        </p:nvPicPr>
        <p:blipFill>
          <a:blip r:embed="rId5">
            <a:alphaModFix/>
          </a:blip>
          <a:stretch>
            <a:fillRect/>
          </a:stretch>
        </p:blipFill>
        <p:spPr>
          <a:xfrm>
            <a:off x="4853971" y="2459629"/>
            <a:ext cx="3623604" cy="2348648"/>
          </a:xfrm>
          <a:prstGeom prst="rect">
            <a:avLst/>
          </a:prstGeom>
          <a:noFill/>
          <a:ln>
            <a:noFill/>
          </a:ln>
        </p:spPr>
      </p:pic>
      <p:sp>
        <p:nvSpPr>
          <p:cNvPr id="154" name="Google Shape;154;p21"/>
          <p:cNvSpPr txBox="1"/>
          <p:nvPr/>
        </p:nvSpPr>
        <p:spPr>
          <a:xfrm>
            <a:off x="5721013" y="2057083"/>
            <a:ext cx="1983900" cy="22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a:latin typeface="Lato"/>
                <a:ea typeface="Lato"/>
                <a:cs typeface="Lato"/>
                <a:sym typeface="Lato"/>
              </a:rPr>
              <a:t>Create new PlayList</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pic>
        <p:nvPicPr>
          <p:cNvPr id="155" name="Google Shape;155;p21"/>
          <p:cNvPicPr preferRelativeResize="0"/>
          <p:nvPr/>
        </p:nvPicPr>
        <p:blipFill>
          <a:blip r:embed="rId4">
            <a:alphaModFix/>
          </a:blip>
          <a:stretch>
            <a:fillRect/>
          </a:stretch>
        </p:blipFill>
        <p:spPr>
          <a:xfrm>
            <a:off x="788875" y="2382876"/>
            <a:ext cx="3582629" cy="2462553"/>
          </a:xfrm>
          <a:prstGeom prst="rect">
            <a:avLst/>
          </a:prstGeom>
          <a:noFill/>
          <a:ln>
            <a:noFill/>
          </a:ln>
        </p:spPr>
      </p:pic>
      <p:pic>
        <p:nvPicPr>
          <p:cNvPr id="156" name="Google Shape;156;p21"/>
          <p:cNvPicPr preferRelativeResize="0"/>
          <p:nvPr/>
        </p:nvPicPr>
        <p:blipFill>
          <a:blip r:embed="rId5">
            <a:alphaModFix/>
          </a:blip>
          <a:stretch>
            <a:fillRect/>
          </a:stretch>
        </p:blipFill>
        <p:spPr>
          <a:xfrm>
            <a:off x="4853971" y="2409633"/>
            <a:ext cx="3623604" cy="2348648"/>
          </a:xfrm>
          <a:prstGeom prst="rect">
            <a:avLst/>
          </a:prstGeom>
          <a:noFill/>
          <a:ln>
            <a:noFill/>
          </a:ln>
        </p:spPr>
      </p:pic>
      <p:pic>
        <p:nvPicPr>
          <p:cNvPr id="157" name="Google Shape;157;p21"/>
          <p:cNvPicPr preferRelativeResize="0"/>
          <p:nvPr/>
        </p:nvPicPr>
        <p:blipFill>
          <a:blip r:embed="rId4">
            <a:alphaModFix/>
          </a:blip>
          <a:stretch>
            <a:fillRect/>
          </a:stretch>
        </p:blipFill>
        <p:spPr>
          <a:xfrm>
            <a:off x="788875" y="2345723"/>
            <a:ext cx="3582629" cy="2462553"/>
          </a:xfrm>
          <a:prstGeom prst="rect">
            <a:avLst/>
          </a:prstGeom>
          <a:noFill/>
          <a:ln>
            <a:noFill/>
          </a:ln>
        </p:spPr>
      </p:pic>
      <p:pic>
        <p:nvPicPr>
          <p:cNvPr id="158" name="Google Shape;158;p21"/>
          <p:cNvPicPr preferRelativeResize="0"/>
          <p:nvPr/>
        </p:nvPicPr>
        <p:blipFill>
          <a:blip r:embed="rId5">
            <a:alphaModFix/>
          </a:blip>
          <a:stretch>
            <a:fillRect/>
          </a:stretch>
        </p:blipFill>
        <p:spPr>
          <a:xfrm>
            <a:off x="4853971" y="2372480"/>
            <a:ext cx="3623604" cy="23486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2"/>
          <p:cNvSpPr txBox="1">
            <a:spLocks noGrp="1"/>
          </p:cNvSpPr>
          <p:nvPr>
            <p:ph type="body" idx="1"/>
          </p:nvPr>
        </p:nvSpPr>
        <p:spPr>
          <a:xfrm>
            <a:off x="688025" y="1573500"/>
            <a:ext cx="4239900" cy="1857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a:solidFill>
                  <a:srgbClr val="000000"/>
                </a:solidFill>
                <a:latin typeface="Raleway"/>
                <a:ea typeface="Raleway"/>
                <a:cs typeface="Raleway"/>
                <a:sym typeface="Raleway"/>
              </a:rPr>
              <a:t>In this step we want to know:</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we designed the prototype in the correct way?</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we designed what users want?</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we designed a good user interface?</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can user do tasks correctly and easily?</a:t>
            </a:r>
            <a:endParaRPr>
              <a:solidFill>
                <a:srgbClr val="000000"/>
              </a:solidFill>
              <a:latin typeface="Raleway"/>
              <a:ea typeface="Raleway"/>
              <a:cs typeface="Raleway"/>
              <a:sym typeface="Raleway"/>
            </a:endParaRPr>
          </a:p>
          <a:p>
            <a:pPr marL="0" lvl="0" indent="0" algn="l" rtl="0">
              <a:lnSpc>
                <a:spcPct val="150000"/>
              </a:lnSpc>
              <a:spcBef>
                <a:spcPts val="0"/>
              </a:spcBef>
              <a:spcAft>
                <a:spcPts val="0"/>
              </a:spcAft>
              <a:buNone/>
            </a:pPr>
            <a:endParaRPr>
              <a:solidFill>
                <a:srgbClr val="000000"/>
              </a:solidFill>
              <a:latin typeface="Raleway"/>
              <a:ea typeface="Raleway"/>
              <a:cs typeface="Raleway"/>
              <a:sym typeface="Raleway"/>
            </a:endParaRPr>
          </a:p>
        </p:txBody>
      </p:sp>
      <p:sp>
        <p:nvSpPr>
          <p:cNvPr id="164" name="Google Shape;164;p22"/>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LFP User Evaluation</a:t>
            </a:r>
            <a:endParaRPr>
              <a:solidFill>
                <a:srgbClr val="000000"/>
              </a:solidFill>
              <a:latin typeface="Arial"/>
              <a:ea typeface="Arial"/>
              <a:cs typeface="Arial"/>
              <a:sym typeface="Arial"/>
            </a:endParaRPr>
          </a:p>
        </p:txBody>
      </p:sp>
      <p:pic>
        <p:nvPicPr>
          <p:cNvPr id="165" name="Google Shape;165;p22"/>
          <p:cNvPicPr preferRelativeResize="0"/>
          <p:nvPr/>
        </p:nvPicPr>
        <p:blipFill>
          <a:blip r:embed="rId3">
            <a:alphaModFix/>
          </a:blip>
          <a:stretch>
            <a:fillRect/>
          </a:stretch>
        </p:blipFill>
        <p:spPr>
          <a:xfrm>
            <a:off x="7337963" y="3341250"/>
            <a:ext cx="1758475" cy="1758475"/>
          </a:xfrm>
          <a:prstGeom prst="rect">
            <a:avLst/>
          </a:prstGeom>
          <a:noFill/>
          <a:ln>
            <a:noFill/>
          </a:ln>
        </p:spPr>
      </p:pic>
      <p:sp>
        <p:nvSpPr>
          <p:cNvPr id="166" name="Google Shape;166;p22"/>
          <p:cNvSpPr txBox="1"/>
          <p:nvPr/>
        </p:nvSpPr>
        <p:spPr>
          <a:xfrm>
            <a:off x="4894850" y="1573500"/>
            <a:ext cx="3968100" cy="19965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sz="1300">
                <a:latin typeface="Raleway"/>
                <a:ea typeface="Raleway"/>
                <a:cs typeface="Raleway"/>
                <a:sym typeface="Raleway"/>
              </a:rPr>
              <a:t>Personas and scenarios were addressed:</a:t>
            </a:r>
            <a:endParaRPr sz="1300">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Francisco Almeida</a:t>
            </a:r>
            <a:r>
              <a:rPr lang="pt-PT" sz="1300" u="sng">
                <a:latin typeface="Raleway"/>
                <a:ea typeface="Raleway"/>
                <a:cs typeface="Raleway"/>
                <a:sym typeface="Raleway"/>
              </a:rPr>
              <a:t>			</a:t>
            </a:r>
            <a:r>
              <a:rPr lang="pt-PT" sz="1300">
                <a:latin typeface="Raleway"/>
                <a:ea typeface="Raleway"/>
                <a:cs typeface="Raleway"/>
                <a:sym typeface="Raleway"/>
              </a:rPr>
              <a:t>    </a:t>
            </a:r>
            <a:endParaRPr sz="1300">
              <a:latin typeface="Raleway"/>
              <a:ea typeface="Raleway"/>
              <a:cs typeface="Raleway"/>
              <a:sym typeface="Raleway"/>
            </a:endParaRPr>
          </a:p>
          <a:p>
            <a:pPr marL="914400" lvl="1"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Create new PlayList </a:t>
            </a:r>
            <a:r>
              <a:rPr lang="pt-PT" sz="1300" u="sng">
                <a:latin typeface="Raleway"/>
                <a:ea typeface="Raleway"/>
                <a:cs typeface="Raleway"/>
                <a:sym typeface="Raleway"/>
              </a:rPr>
              <a:t>	</a:t>
            </a:r>
            <a:r>
              <a:rPr lang="pt-PT" sz="1300">
                <a:latin typeface="Raleway"/>
                <a:ea typeface="Raleway"/>
                <a:cs typeface="Raleway"/>
                <a:sym typeface="Raleway"/>
              </a:rPr>
              <a:t>               </a:t>
            </a:r>
            <a:endParaRPr sz="1300">
              <a:latin typeface="Raleway"/>
              <a:ea typeface="Raleway"/>
              <a:cs typeface="Raleway"/>
              <a:sym typeface="Raleway"/>
            </a:endParaRPr>
          </a:p>
          <a:p>
            <a:pPr marL="914400" lvl="0" indent="0" algn="l" rtl="0">
              <a:lnSpc>
                <a:spcPct val="150000"/>
              </a:lnSpc>
              <a:spcBef>
                <a:spcPts val="0"/>
              </a:spcBef>
              <a:spcAft>
                <a:spcPts val="0"/>
              </a:spcAft>
              <a:buNone/>
            </a:pPr>
            <a:endParaRPr sz="1300" u="sng">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Ana Beatriz	</a:t>
            </a:r>
            <a:r>
              <a:rPr lang="pt-PT" sz="1300" u="sng">
                <a:latin typeface="Raleway"/>
                <a:ea typeface="Raleway"/>
                <a:cs typeface="Raleway"/>
                <a:sym typeface="Raleway"/>
              </a:rPr>
              <a:t>			</a:t>
            </a:r>
            <a:r>
              <a:rPr lang="pt-PT" sz="1300">
                <a:latin typeface="Raleway"/>
                <a:ea typeface="Raleway"/>
                <a:cs typeface="Raleway"/>
                <a:sym typeface="Raleway"/>
              </a:rPr>
              <a:t>                </a:t>
            </a:r>
            <a:endParaRPr sz="1300">
              <a:latin typeface="Raleway"/>
              <a:ea typeface="Raleway"/>
              <a:cs typeface="Raleway"/>
              <a:sym typeface="Raleway"/>
            </a:endParaRPr>
          </a:p>
          <a:p>
            <a:pPr marL="914400" lvl="1"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Upload a music		                </a:t>
            </a:r>
            <a:endParaRPr sz="1300">
              <a:latin typeface="Raleway"/>
              <a:ea typeface="Raleway"/>
              <a:cs typeface="Raleway"/>
              <a:sym typeface="Raleway"/>
            </a:endParaRPr>
          </a:p>
        </p:txBody>
      </p:sp>
      <p:pic>
        <p:nvPicPr>
          <p:cNvPr id="167" name="Google Shape;167;p22"/>
          <p:cNvPicPr preferRelativeResize="0"/>
          <p:nvPr/>
        </p:nvPicPr>
        <p:blipFill>
          <a:blip r:embed="rId4">
            <a:alphaModFix/>
          </a:blip>
          <a:stretch>
            <a:fillRect/>
          </a:stretch>
        </p:blipFill>
        <p:spPr>
          <a:xfrm>
            <a:off x="8057675" y="2197752"/>
            <a:ext cx="319050" cy="303900"/>
          </a:xfrm>
          <a:prstGeom prst="rect">
            <a:avLst/>
          </a:prstGeom>
          <a:noFill/>
          <a:ln>
            <a:noFill/>
          </a:ln>
        </p:spPr>
      </p:pic>
      <p:pic>
        <p:nvPicPr>
          <p:cNvPr id="168" name="Google Shape;168;p22"/>
          <p:cNvPicPr preferRelativeResize="0"/>
          <p:nvPr/>
        </p:nvPicPr>
        <p:blipFill>
          <a:blip r:embed="rId4">
            <a:alphaModFix/>
          </a:blip>
          <a:stretch>
            <a:fillRect/>
          </a:stretch>
        </p:blipFill>
        <p:spPr>
          <a:xfrm>
            <a:off x="8057675" y="2734927"/>
            <a:ext cx="319050" cy="303900"/>
          </a:xfrm>
          <a:prstGeom prst="rect">
            <a:avLst/>
          </a:prstGeom>
          <a:noFill/>
          <a:ln>
            <a:noFill/>
          </a:ln>
        </p:spPr>
      </p:pic>
      <p:pic>
        <p:nvPicPr>
          <p:cNvPr id="169" name="Google Shape;169;p22"/>
          <p:cNvPicPr preferRelativeResize="0"/>
          <p:nvPr/>
        </p:nvPicPr>
        <p:blipFill>
          <a:blip r:embed="rId4">
            <a:alphaModFix/>
          </a:blip>
          <a:stretch>
            <a:fillRect/>
          </a:stretch>
        </p:blipFill>
        <p:spPr>
          <a:xfrm>
            <a:off x="8057675" y="3076552"/>
            <a:ext cx="319050" cy="303900"/>
          </a:xfrm>
          <a:prstGeom prst="rect">
            <a:avLst/>
          </a:prstGeom>
          <a:noFill/>
          <a:ln>
            <a:noFill/>
          </a:ln>
        </p:spPr>
      </p:pic>
      <p:pic>
        <p:nvPicPr>
          <p:cNvPr id="170" name="Google Shape;170;p22"/>
          <p:cNvPicPr preferRelativeResize="0"/>
          <p:nvPr/>
        </p:nvPicPr>
        <p:blipFill>
          <a:blip r:embed="rId4">
            <a:alphaModFix/>
          </a:blip>
          <a:stretch>
            <a:fillRect/>
          </a:stretch>
        </p:blipFill>
        <p:spPr>
          <a:xfrm>
            <a:off x="8057675" y="1893840"/>
            <a:ext cx="319050" cy="303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23"/>
          <p:cNvSpPr txBox="1">
            <a:spLocks noGrp="1"/>
          </p:cNvSpPr>
          <p:nvPr>
            <p:ph type="body" idx="1"/>
          </p:nvPr>
        </p:nvSpPr>
        <p:spPr>
          <a:xfrm>
            <a:off x="688025" y="1593600"/>
            <a:ext cx="3237900" cy="2979300"/>
          </a:xfrm>
          <a:prstGeom prst="rect">
            <a:avLst/>
          </a:prstGeom>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a:solidFill>
                  <a:srgbClr val="000000"/>
                </a:solidFill>
                <a:latin typeface="Raleway"/>
                <a:ea typeface="Raleway"/>
                <a:cs typeface="Raleway"/>
                <a:sym typeface="Raleway"/>
              </a:rPr>
              <a:t>Tasks used:</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Upload a music</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Find a music and add to a playlist</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Comment on a playlist</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Play one of the uploaded musics</a:t>
            </a:r>
            <a:endParaRPr>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a:solidFill>
                  <a:srgbClr val="000000"/>
                </a:solidFill>
                <a:latin typeface="Raleway"/>
                <a:ea typeface="Raleway"/>
                <a:cs typeface="Raleway"/>
                <a:sym typeface="Raleway"/>
              </a:rPr>
              <a:t>See musics uploaded by a friend</a:t>
            </a:r>
            <a:endParaRPr>
              <a:solidFill>
                <a:srgbClr val="000000"/>
              </a:solidFill>
              <a:latin typeface="Raleway"/>
              <a:ea typeface="Raleway"/>
              <a:cs typeface="Raleway"/>
              <a:sym typeface="Raleway"/>
            </a:endParaRPr>
          </a:p>
        </p:txBody>
      </p:sp>
      <p:sp>
        <p:nvSpPr>
          <p:cNvPr id="176" name="Google Shape;176;p23"/>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LFP User Evaluation</a:t>
            </a:r>
            <a:endParaRPr>
              <a:solidFill>
                <a:srgbClr val="000000"/>
              </a:solidFill>
              <a:latin typeface="Arial"/>
              <a:ea typeface="Arial"/>
              <a:cs typeface="Arial"/>
              <a:sym typeface="Arial"/>
            </a:endParaRPr>
          </a:p>
        </p:txBody>
      </p:sp>
      <p:pic>
        <p:nvPicPr>
          <p:cNvPr id="177" name="Google Shape;177;p23"/>
          <p:cNvPicPr preferRelativeResize="0"/>
          <p:nvPr/>
        </p:nvPicPr>
        <p:blipFill>
          <a:blip r:embed="rId3">
            <a:alphaModFix/>
          </a:blip>
          <a:stretch>
            <a:fillRect/>
          </a:stretch>
        </p:blipFill>
        <p:spPr>
          <a:xfrm>
            <a:off x="7435825" y="3600825"/>
            <a:ext cx="1542675" cy="1542675"/>
          </a:xfrm>
          <a:prstGeom prst="rect">
            <a:avLst/>
          </a:prstGeom>
          <a:noFill/>
          <a:ln>
            <a:noFill/>
          </a:ln>
        </p:spPr>
      </p:pic>
      <p:sp>
        <p:nvSpPr>
          <p:cNvPr id="178" name="Google Shape;178;p23"/>
          <p:cNvSpPr txBox="1"/>
          <p:nvPr/>
        </p:nvSpPr>
        <p:spPr>
          <a:xfrm>
            <a:off x="4430375" y="1554600"/>
            <a:ext cx="4068600" cy="2034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pt-PT" sz="1300">
                <a:latin typeface="Raleway"/>
                <a:ea typeface="Raleway"/>
                <a:cs typeface="Raleway"/>
                <a:sym typeface="Raleway"/>
              </a:rPr>
              <a:t>We did tests with 4 users who pointed out some aspects that we should improve</a:t>
            </a:r>
            <a:endParaRPr sz="1300">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No alert when an upload is completed</a:t>
            </a:r>
            <a:endParaRPr sz="1300">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Can’t jump to Friend page with click in his photo</a:t>
            </a:r>
            <a:endParaRPr sz="1300">
              <a:latin typeface="Raleway"/>
              <a:ea typeface="Raleway"/>
              <a:cs typeface="Raleway"/>
              <a:sym typeface="Raleway"/>
            </a:endParaRPr>
          </a:p>
          <a:p>
            <a:pPr marL="457200" lvl="0" indent="-311150" algn="l" rtl="0">
              <a:lnSpc>
                <a:spcPct val="150000"/>
              </a:lnSpc>
              <a:spcBef>
                <a:spcPts val="0"/>
              </a:spcBef>
              <a:spcAft>
                <a:spcPts val="0"/>
              </a:spcAft>
              <a:buSzPts val="1300"/>
              <a:buFont typeface="Raleway"/>
              <a:buChar char="●"/>
            </a:pPr>
            <a:r>
              <a:rPr lang="pt-PT" sz="1300">
                <a:latin typeface="Raleway"/>
                <a:ea typeface="Raleway"/>
                <a:cs typeface="Raleway"/>
                <a:sym typeface="Raleway"/>
              </a:rPr>
              <a:t>“MySongs” rather than “MyUploaded”</a:t>
            </a:r>
            <a:endParaRPr sz="1300">
              <a:latin typeface="Raleway"/>
              <a:ea typeface="Raleway"/>
              <a:cs typeface="Raleway"/>
              <a:sym typeface="Raleway"/>
            </a:endParaRPr>
          </a:p>
          <a:p>
            <a:pPr marL="457200" lvl="0" indent="0" algn="l" rtl="0">
              <a:lnSpc>
                <a:spcPct val="150000"/>
              </a:lnSpc>
              <a:spcBef>
                <a:spcPts val="0"/>
              </a:spcBef>
              <a:spcAft>
                <a:spcPts val="0"/>
              </a:spcAft>
              <a:buNone/>
            </a:pPr>
            <a:endParaRPr sz="1300">
              <a:latin typeface="Raleway"/>
              <a:ea typeface="Raleway"/>
              <a:cs typeface="Raleway"/>
              <a:sym typeface="Raleway"/>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24"/>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Platform Used for the Functional Prototype</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p:txBody>
      </p:sp>
      <p:pic>
        <p:nvPicPr>
          <p:cNvPr id="184" name="Google Shape;184;p24"/>
          <p:cNvPicPr preferRelativeResize="0"/>
          <p:nvPr/>
        </p:nvPicPr>
        <p:blipFill>
          <a:blip r:embed="rId3">
            <a:alphaModFix/>
          </a:blip>
          <a:stretch>
            <a:fillRect/>
          </a:stretch>
        </p:blipFill>
        <p:spPr>
          <a:xfrm>
            <a:off x="6689025" y="1536475"/>
            <a:ext cx="1743075" cy="1647825"/>
          </a:xfrm>
          <a:prstGeom prst="rect">
            <a:avLst/>
          </a:prstGeom>
          <a:noFill/>
          <a:ln>
            <a:noFill/>
          </a:ln>
        </p:spPr>
      </p:pic>
      <p:sp>
        <p:nvSpPr>
          <p:cNvPr id="185" name="Google Shape;185;p24"/>
          <p:cNvSpPr txBox="1"/>
          <p:nvPr/>
        </p:nvSpPr>
        <p:spPr>
          <a:xfrm>
            <a:off x="614300" y="1536475"/>
            <a:ext cx="4732800" cy="1134600"/>
          </a:xfrm>
          <a:prstGeom prst="rect">
            <a:avLst/>
          </a:prstGeom>
          <a:noFill/>
          <a:ln>
            <a:noFill/>
          </a:ln>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Font typeface="Raleway"/>
              <a:buChar char="●"/>
            </a:pPr>
            <a:r>
              <a:rPr lang="pt-PT">
                <a:latin typeface="Raleway"/>
                <a:ea typeface="Raleway"/>
                <a:cs typeface="Raleway"/>
                <a:sym typeface="Raleway"/>
              </a:rPr>
              <a:t>Programming language: C#</a:t>
            </a:r>
            <a:endParaRPr>
              <a:latin typeface="Raleway"/>
              <a:ea typeface="Raleway"/>
              <a:cs typeface="Raleway"/>
              <a:sym typeface="Raleway"/>
            </a:endParaRPr>
          </a:p>
          <a:p>
            <a:pPr marL="457200" lvl="0" indent="-317500" algn="l" rtl="0">
              <a:lnSpc>
                <a:spcPct val="150000"/>
              </a:lnSpc>
              <a:spcBef>
                <a:spcPts val="0"/>
              </a:spcBef>
              <a:spcAft>
                <a:spcPts val="0"/>
              </a:spcAft>
              <a:buSzPts val="1400"/>
              <a:buFont typeface="Raleway"/>
              <a:buChar char="●"/>
            </a:pPr>
            <a:r>
              <a:rPr lang="pt-PT">
                <a:latin typeface="Raleway"/>
                <a:ea typeface="Raleway"/>
                <a:cs typeface="Raleway"/>
                <a:sym typeface="Raleway"/>
              </a:rPr>
              <a:t>IDE: Visual Studio</a:t>
            </a:r>
            <a:endParaRPr>
              <a:latin typeface="Raleway"/>
              <a:ea typeface="Raleway"/>
              <a:cs typeface="Raleway"/>
              <a:sym typeface="Raleway"/>
            </a:endParaRPr>
          </a:p>
          <a:p>
            <a:pPr marL="457200" lvl="0" indent="-317500" algn="l" rtl="0">
              <a:lnSpc>
                <a:spcPct val="150000"/>
              </a:lnSpc>
              <a:spcBef>
                <a:spcPts val="0"/>
              </a:spcBef>
              <a:spcAft>
                <a:spcPts val="0"/>
              </a:spcAft>
              <a:buSzPts val="1400"/>
              <a:buFont typeface="Raleway"/>
              <a:buChar char="●"/>
            </a:pPr>
            <a:r>
              <a:rPr lang="pt-PT">
                <a:latin typeface="Raleway"/>
                <a:ea typeface="Raleway"/>
                <a:cs typeface="Raleway"/>
                <a:sym typeface="Raleway"/>
              </a:rPr>
              <a:t>Libraries:  </a:t>
            </a:r>
            <a:endParaRPr>
              <a:latin typeface="Raleway"/>
              <a:ea typeface="Raleway"/>
              <a:cs typeface="Raleway"/>
              <a:sym typeface="Raleway"/>
            </a:endParaRPr>
          </a:p>
          <a:p>
            <a:pPr marL="914400" lvl="1" indent="-317500" algn="l" rtl="0">
              <a:lnSpc>
                <a:spcPct val="150000"/>
              </a:lnSpc>
              <a:spcBef>
                <a:spcPts val="0"/>
              </a:spcBef>
              <a:spcAft>
                <a:spcPts val="0"/>
              </a:spcAft>
              <a:buSzPts val="1400"/>
              <a:buFont typeface="Raleway"/>
              <a:buChar char="○"/>
            </a:pPr>
            <a:r>
              <a:rPr lang="pt-PT">
                <a:latin typeface="Raleway"/>
                <a:ea typeface="Raleway"/>
                <a:cs typeface="Raleway"/>
                <a:sym typeface="Raleway"/>
              </a:rPr>
              <a:t>Windows Media Player</a:t>
            </a:r>
            <a:endParaRPr>
              <a:latin typeface="Raleway"/>
              <a:ea typeface="Raleway"/>
              <a:cs typeface="Raleway"/>
              <a:sym typeface="Raleway"/>
            </a:endParaRPr>
          </a:p>
          <a:p>
            <a:pPr marL="914400" lvl="1" indent="-317500" algn="l" rtl="0">
              <a:lnSpc>
                <a:spcPct val="150000"/>
              </a:lnSpc>
              <a:spcBef>
                <a:spcPts val="0"/>
              </a:spcBef>
              <a:spcAft>
                <a:spcPts val="0"/>
              </a:spcAft>
              <a:buSzPts val="1400"/>
              <a:buFont typeface="Raleway"/>
              <a:buChar char="○"/>
            </a:pPr>
            <a:r>
              <a:rPr lang="pt-PT">
                <a:latin typeface="Raleway"/>
                <a:ea typeface="Raleway"/>
                <a:cs typeface="Raleway"/>
                <a:sym typeface="Raleway"/>
              </a:rPr>
              <a:t> FontAwesome.Sharp</a:t>
            </a:r>
            <a:endParaRPr>
              <a:latin typeface="Raleway"/>
              <a:ea typeface="Raleway"/>
              <a:cs typeface="Raleway"/>
              <a:sym typeface="Raleway"/>
            </a:endParaRPr>
          </a:p>
        </p:txBody>
      </p:sp>
      <p:pic>
        <p:nvPicPr>
          <p:cNvPr id="186" name="Google Shape;186;p24"/>
          <p:cNvPicPr preferRelativeResize="0"/>
          <p:nvPr/>
        </p:nvPicPr>
        <p:blipFill>
          <a:blip r:embed="rId4">
            <a:alphaModFix/>
          </a:blip>
          <a:stretch>
            <a:fillRect/>
          </a:stretch>
        </p:blipFill>
        <p:spPr>
          <a:xfrm>
            <a:off x="4356975" y="1560050"/>
            <a:ext cx="1786950" cy="1600700"/>
          </a:xfrm>
          <a:prstGeom prst="rect">
            <a:avLst/>
          </a:prstGeom>
          <a:noFill/>
          <a:ln>
            <a:noFill/>
          </a:ln>
        </p:spPr>
      </p:pic>
      <p:pic>
        <p:nvPicPr>
          <p:cNvPr id="187" name="Google Shape;187;p24"/>
          <p:cNvPicPr preferRelativeResize="0"/>
          <p:nvPr/>
        </p:nvPicPr>
        <p:blipFill>
          <a:blip r:embed="rId5">
            <a:alphaModFix/>
          </a:blip>
          <a:stretch>
            <a:fillRect/>
          </a:stretch>
        </p:blipFill>
        <p:spPr>
          <a:xfrm>
            <a:off x="5502823" y="3405014"/>
            <a:ext cx="2523575" cy="1336284"/>
          </a:xfrm>
          <a:prstGeom prst="rect">
            <a:avLst/>
          </a:prstGeom>
          <a:noFill/>
          <a:ln>
            <a:noFill/>
          </a:ln>
        </p:spPr>
      </p:pic>
      <p:pic>
        <p:nvPicPr>
          <p:cNvPr id="188" name="Google Shape;188;p24"/>
          <p:cNvPicPr preferRelativeResize="0"/>
          <p:nvPr/>
        </p:nvPicPr>
        <p:blipFill>
          <a:blip r:embed="rId6">
            <a:alphaModFix/>
          </a:blip>
          <a:stretch>
            <a:fillRect/>
          </a:stretch>
        </p:blipFill>
        <p:spPr>
          <a:xfrm>
            <a:off x="5086000" y="2571746"/>
            <a:ext cx="2024229" cy="1134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5"/>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sp>
        <p:nvSpPr>
          <p:cNvPr id="194" name="Google Shape;194;p25"/>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Demo/Tasks And Usability Tests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6"/>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pic>
        <p:nvPicPr>
          <p:cNvPr id="200" name="Google Shape;200;p26"/>
          <p:cNvPicPr preferRelativeResize="0"/>
          <p:nvPr/>
        </p:nvPicPr>
        <p:blipFill>
          <a:blip r:embed="rId3">
            <a:alphaModFix/>
          </a:blip>
          <a:stretch>
            <a:fillRect/>
          </a:stretch>
        </p:blipFill>
        <p:spPr>
          <a:xfrm>
            <a:off x="562363" y="1505150"/>
            <a:ext cx="8019263" cy="1665350"/>
          </a:xfrm>
          <a:prstGeom prst="rect">
            <a:avLst/>
          </a:prstGeom>
          <a:noFill/>
          <a:ln>
            <a:noFill/>
          </a:ln>
        </p:spPr>
      </p:pic>
      <p:pic>
        <p:nvPicPr>
          <p:cNvPr id="201" name="Google Shape;201;p26"/>
          <p:cNvPicPr preferRelativeResize="0"/>
          <p:nvPr/>
        </p:nvPicPr>
        <p:blipFill>
          <a:blip r:embed="rId4">
            <a:alphaModFix/>
          </a:blip>
          <a:stretch>
            <a:fillRect/>
          </a:stretch>
        </p:blipFill>
        <p:spPr>
          <a:xfrm>
            <a:off x="610200" y="3310600"/>
            <a:ext cx="7359676" cy="1588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pic>
        <p:nvPicPr>
          <p:cNvPr id="206" name="Google Shape;206;p27"/>
          <p:cNvPicPr preferRelativeResize="0"/>
          <p:nvPr/>
        </p:nvPicPr>
        <p:blipFill>
          <a:blip r:embed="rId3">
            <a:alphaModFix/>
          </a:blip>
          <a:stretch>
            <a:fillRect/>
          </a:stretch>
        </p:blipFill>
        <p:spPr>
          <a:xfrm>
            <a:off x="359538" y="1521550"/>
            <a:ext cx="8424926" cy="1711500"/>
          </a:xfrm>
          <a:prstGeom prst="rect">
            <a:avLst/>
          </a:prstGeom>
          <a:noFill/>
          <a:ln>
            <a:noFill/>
          </a:ln>
        </p:spPr>
      </p:pic>
      <p:sp>
        <p:nvSpPr>
          <p:cNvPr id="207" name="Google Shape;207;p27"/>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pic>
        <p:nvPicPr>
          <p:cNvPr id="208" name="Google Shape;208;p27"/>
          <p:cNvPicPr preferRelativeResize="0"/>
          <p:nvPr/>
        </p:nvPicPr>
        <p:blipFill>
          <a:blip r:embed="rId4">
            <a:alphaModFix/>
          </a:blip>
          <a:stretch>
            <a:fillRect/>
          </a:stretch>
        </p:blipFill>
        <p:spPr>
          <a:xfrm>
            <a:off x="359550" y="3233050"/>
            <a:ext cx="8424924" cy="172409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8"/>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pic>
        <p:nvPicPr>
          <p:cNvPr id="214" name="Google Shape;214;p28"/>
          <p:cNvPicPr preferRelativeResize="0"/>
          <p:nvPr/>
        </p:nvPicPr>
        <p:blipFill>
          <a:blip r:embed="rId3">
            <a:alphaModFix/>
          </a:blip>
          <a:stretch>
            <a:fillRect/>
          </a:stretch>
        </p:blipFill>
        <p:spPr>
          <a:xfrm>
            <a:off x="152400" y="1524700"/>
            <a:ext cx="8839199" cy="1898351"/>
          </a:xfrm>
          <a:prstGeom prst="rect">
            <a:avLst/>
          </a:prstGeom>
          <a:noFill/>
          <a:ln>
            <a:noFill/>
          </a:ln>
        </p:spPr>
      </p:pic>
      <p:pic>
        <p:nvPicPr>
          <p:cNvPr id="215" name="Google Shape;215;p28"/>
          <p:cNvPicPr preferRelativeResize="0"/>
          <p:nvPr/>
        </p:nvPicPr>
        <p:blipFill>
          <a:blip r:embed="rId4">
            <a:alphaModFix/>
          </a:blip>
          <a:stretch>
            <a:fillRect/>
          </a:stretch>
        </p:blipFill>
        <p:spPr>
          <a:xfrm>
            <a:off x="152400" y="3423051"/>
            <a:ext cx="8839202" cy="94145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29"/>
          <p:cNvSpPr txBox="1">
            <a:spLocks noGrp="1"/>
          </p:cNvSpPr>
          <p:nvPr>
            <p:ph type="ctrTitle"/>
          </p:nvPr>
        </p:nvSpPr>
        <p:spPr>
          <a:xfrm>
            <a:off x="1928400" y="3337950"/>
            <a:ext cx="5287200" cy="82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Demo Da Aplicação</a:t>
            </a:r>
            <a:endParaRPr/>
          </a:p>
        </p:txBody>
      </p:sp>
      <p:pic>
        <p:nvPicPr>
          <p:cNvPr id="221" name="Google Shape;221;p29"/>
          <p:cNvPicPr preferRelativeResize="0"/>
          <p:nvPr/>
        </p:nvPicPr>
        <p:blipFill>
          <a:blip r:embed="rId3">
            <a:alphaModFix/>
          </a:blip>
          <a:stretch>
            <a:fillRect/>
          </a:stretch>
        </p:blipFill>
        <p:spPr>
          <a:xfrm>
            <a:off x="3482800" y="1062750"/>
            <a:ext cx="1905000" cy="1905000"/>
          </a:xfrm>
          <a:prstGeom prst="rect">
            <a:avLst/>
          </a:prstGeom>
          <a:noFill/>
          <a:ln>
            <a:noFill/>
          </a:ln>
          <a:effectLst>
            <a:reflection endPos="12000" fadeDir="5400012" sy="-100000" algn="bl" rotWithShape="0"/>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30"/>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sp>
        <p:nvSpPr>
          <p:cNvPr id="227" name="Google Shape;227;p30"/>
          <p:cNvSpPr txBox="1"/>
          <p:nvPr/>
        </p:nvSpPr>
        <p:spPr>
          <a:xfrm>
            <a:off x="775175" y="1337150"/>
            <a:ext cx="8130000" cy="2709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Font typeface="Lato"/>
              <a:buAutoNum type="alphaUcPeriod"/>
            </a:pPr>
            <a:r>
              <a:rPr lang="pt-PT">
                <a:latin typeface="Lato"/>
                <a:ea typeface="Lato"/>
                <a:cs typeface="Lato"/>
                <a:sym typeface="Lato"/>
              </a:rPr>
              <a:t>5 Participants</a:t>
            </a:r>
            <a:endParaRPr>
              <a:latin typeface="Lato"/>
              <a:ea typeface="Lato"/>
              <a:cs typeface="Lato"/>
              <a:sym typeface="Lato"/>
            </a:endParaRPr>
          </a:p>
          <a:p>
            <a:pPr marL="457200" lvl="0" indent="-317500" algn="l" rtl="0">
              <a:spcBef>
                <a:spcPts val="0"/>
              </a:spcBef>
              <a:spcAft>
                <a:spcPts val="0"/>
              </a:spcAft>
              <a:buSzPts val="1400"/>
              <a:buFont typeface="Lato"/>
              <a:buAutoNum type="alphaUcPeriod"/>
            </a:pPr>
            <a:r>
              <a:rPr lang="pt-PT">
                <a:latin typeface="Lato"/>
                <a:ea typeface="Lato"/>
                <a:cs typeface="Lato"/>
                <a:sym typeface="Lato"/>
              </a:rPr>
              <a:t>All users were Listeners</a:t>
            </a:r>
            <a:endParaRPr>
              <a:latin typeface="Lato"/>
              <a:ea typeface="Lato"/>
              <a:cs typeface="Lato"/>
              <a:sym typeface="Lato"/>
            </a:endParaRPr>
          </a:p>
          <a:p>
            <a:pPr marL="457200" lvl="0" indent="-317500" algn="l" rtl="0">
              <a:spcBef>
                <a:spcPts val="0"/>
              </a:spcBef>
              <a:spcAft>
                <a:spcPts val="0"/>
              </a:spcAft>
              <a:buSzPts val="1400"/>
              <a:buFont typeface="Lato"/>
              <a:buAutoNum type="alphaUcPeriod"/>
            </a:pPr>
            <a:r>
              <a:rPr lang="pt-PT">
                <a:latin typeface="Lato"/>
                <a:ea typeface="Lato"/>
                <a:cs typeface="Lato"/>
                <a:sym typeface="Lato"/>
              </a:rPr>
              <a:t>All tasks Completed</a:t>
            </a:r>
            <a:endParaRPr>
              <a:latin typeface="Lato"/>
              <a:ea typeface="Lato"/>
              <a:cs typeface="Lato"/>
              <a:sym typeface="Lato"/>
            </a:endParaRPr>
          </a:p>
          <a:p>
            <a:pPr marL="457200" lvl="0" indent="-317500" algn="l" rtl="0">
              <a:spcBef>
                <a:spcPts val="0"/>
              </a:spcBef>
              <a:spcAft>
                <a:spcPts val="0"/>
              </a:spcAft>
              <a:buSzPts val="1400"/>
              <a:buFont typeface="Lato"/>
              <a:buAutoNum type="alphaUcPeriod"/>
            </a:pPr>
            <a:r>
              <a:rPr lang="pt-PT">
                <a:latin typeface="Lato"/>
                <a:ea typeface="Lato"/>
                <a:cs typeface="Lato"/>
                <a:sym typeface="Lato"/>
              </a:rPr>
              <a:t>Only 1 User Needed Help in Task:’ Post A New Activity Message’</a:t>
            </a:r>
            <a:endParaRPr>
              <a:latin typeface="Lato"/>
              <a:ea typeface="Lato"/>
              <a:cs typeface="Lato"/>
              <a:sym typeface="Lato"/>
            </a:endParaRPr>
          </a:p>
          <a:p>
            <a:pPr marL="0" lvl="0" indent="0" algn="l" rtl="0">
              <a:spcBef>
                <a:spcPts val="0"/>
              </a:spcBef>
              <a:spcAft>
                <a:spcPts val="0"/>
              </a:spcAft>
              <a:buNone/>
            </a:pPr>
            <a:r>
              <a:rPr lang="pt-PT">
                <a:latin typeface="Lato"/>
                <a:ea typeface="Lato"/>
                <a:cs typeface="Lato"/>
                <a:sym typeface="Lato"/>
              </a:rPr>
              <a:t>Notes From Observers:</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Upload </a:t>
            </a:r>
            <a:r>
              <a:rPr lang="pt-PT">
                <a:latin typeface="Lato"/>
                <a:ea typeface="Lato"/>
                <a:cs typeface="Lato"/>
                <a:sym typeface="Lato"/>
              </a:rPr>
              <a:t>- 4xVery Easy, 1xEasy</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Find New Music and Add To Playlist </a:t>
            </a:r>
            <a:r>
              <a:rPr lang="pt-PT">
                <a:latin typeface="Lato"/>
                <a:ea typeface="Lato"/>
                <a:cs typeface="Lato"/>
                <a:sym typeface="Lato"/>
              </a:rPr>
              <a:t>- 3x Very Easy, 2xEasy </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Check Comments From Uploaded Song</a:t>
            </a:r>
            <a:r>
              <a:rPr lang="pt-PT">
                <a:latin typeface="Lato"/>
                <a:ea typeface="Lato"/>
                <a:cs typeface="Lato"/>
                <a:sym typeface="Lato"/>
              </a:rPr>
              <a:t> - 4x Very Easy, 1x Easy</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Add Another User’s Song To Playlist</a:t>
            </a:r>
            <a:r>
              <a:rPr lang="pt-PT">
                <a:latin typeface="Lato"/>
                <a:ea typeface="Lato"/>
                <a:cs typeface="Lato"/>
                <a:sym typeface="Lato"/>
              </a:rPr>
              <a:t> - 3x-Very Easy, 2xEasy</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Add Musics From Playlists To Favorites</a:t>
            </a:r>
            <a:r>
              <a:rPr lang="pt-PT">
                <a:latin typeface="Lato"/>
                <a:ea typeface="Lato"/>
                <a:cs typeface="Lato"/>
                <a:sym typeface="Lato"/>
              </a:rPr>
              <a:t> - 5xVery Easy</a:t>
            </a:r>
            <a:endParaRPr>
              <a:latin typeface="Lato"/>
              <a:ea typeface="Lato"/>
              <a:cs typeface="Lato"/>
              <a:sym typeface="Lato"/>
            </a:endParaRPr>
          </a:p>
          <a:p>
            <a:pPr marL="914400" lvl="0" indent="-317500" algn="l" rtl="0">
              <a:lnSpc>
                <a:spcPct val="115000"/>
              </a:lnSpc>
              <a:spcBef>
                <a:spcPts val="0"/>
              </a:spcBef>
              <a:spcAft>
                <a:spcPts val="0"/>
              </a:spcAft>
              <a:buSzPts val="1400"/>
              <a:buFont typeface="Lato"/>
              <a:buAutoNum type="arabicPeriod"/>
            </a:pPr>
            <a:r>
              <a:rPr lang="pt-PT" i="1">
                <a:latin typeface="Lato"/>
                <a:ea typeface="Lato"/>
                <a:cs typeface="Lato"/>
                <a:sym typeface="Lato"/>
              </a:rPr>
              <a:t>Write and Post New Activity Message </a:t>
            </a:r>
            <a:r>
              <a:rPr lang="pt-PT">
                <a:latin typeface="Lato"/>
                <a:ea typeface="Lato"/>
                <a:cs typeface="Lato"/>
                <a:sym typeface="Lato"/>
              </a:rPr>
              <a:t>- 3xVery Easy, 1xEasy, 1xNormal</a:t>
            </a:r>
            <a:endParaRPr>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31"/>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User Evaluation of the Functional Prototype</a:t>
            </a:r>
            <a:endParaRPr>
              <a:solidFill>
                <a:srgbClr val="000000"/>
              </a:solidFill>
              <a:latin typeface="Arial"/>
              <a:ea typeface="Arial"/>
              <a:cs typeface="Arial"/>
              <a:sym typeface="Arial"/>
            </a:endParaRPr>
          </a:p>
        </p:txBody>
      </p:sp>
      <p:pic>
        <p:nvPicPr>
          <p:cNvPr id="233" name="Google Shape;233;p31" descr="Gráfico de respostas do Formulários. Título da pergunta: O que achou das tarefas que realizou?. Número de respostas: ."/>
          <p:cNvPicPr preferRelativeResize="0"/>
          <p:nvPr/>
        </p:nvPicPr>
        <p:blipFill rotWithShape="1">
          <a:blip r:embed="rId3">
            <a:alphaModFix/>
          </a:blip>
          <a:srcRect l="-1307" t="22781" r="2248" b="18759"/>
          <a:stretch/>
        </p:blipFill>
        <p:spPr>
          <a:xfrm>
            <a:off x="202400" y="2033787"/>
            <a:ext cx="5323649" cy="1735150"/>
          </a:xfrm>
          <a:prstGeom prst="rect">
            <a:avLst/>
          </a:prstGeom>
          <a:noFill/>
          <a:ln>
            <a:noFill/>
          </a:ln>
        </p:spPr>
      </p:pic>
      <p:sp>
        <p:nvSpPr>
          <p:cNvPr id="234" name="Google Shape;234;p31"/>
          <p:cNvSpPr txBox="1"/>
          <p:nvPr/>
        </p:nvSpPr>
        <p:spPr>
          <a:xfrm>
            <a:off x="5393100" y="2007425"/>
            <a:ext cx="3750900" cy="2137800"/>
          </a:xfrm>
          <a:prstGeom prst="rect">
            <a:avLst/>
          </a:prstGeom>
          <a:noFill/>
          <a:ln>
            <a:noFill/>
          </a:ln>
        </p:spPr>
        <p:txBody>
          <a:bodyPr spcFirstLastPara="1" wrap="square" lIns="91425" tIns="91425" rIns="91425" bIns="91425" anchor="t" anchorCtr="0">
            <a:noAutofit/>
          </a:bodyPr>
          <a:lstStyle/>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Upload</a:t>
            </a:r>
            <a:endParaRPr sz="1100">
              <a:latin typeface="Raleway"/>
              <a:ea typeface="Raleway"/>
              <a:cs typeface="Raleway"/>
              <a:sym typeface="Raleway"/>
            </a:endParaRPr>
          </a:p>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Find a New Song and Add It to a Playlist</a:t>
            </a:r>
            <a:endParaRPr sz="1100">
              <a:latin typeface="Raleway"/>
              <a:ea typeface="Raleway"/>
              <a:cs typeface="Raleway"/>
              <a:sym typeface="Raleway"/>
            </a:endParaRPr>
          </a:p>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Check An Uploaded Music's Comments</a:t>
            </a:r>
            <a:endParaRPr sz="1100">
              <a:latin typeface="Raleway"/>
              <a:ea typeface="Raleway"/>
              <a:cs typeface="Raleway"/>
              <a:sym typeface="Raleway"/>
            </a:endParaRPr>
          </a:p>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Add another User’s/Friend Song To A New Playlist</a:t>
            </a:r>
            <a:endParaRPr sz="1100">
              <a:latin typeface="Raleway"/>
              <a:ea typeface="Raleway"/>
              <a:cs typeface="Raleway"/>
              <a:sym typeface="Raleway"/>
            </a:endParaRPr>
          </a:p>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Add Musics From Your Playlists To Favorites</a:t>
            </a:r>
            <a:endParaRPr sz="1100">
              <a:latin typeface="Raleway"/>
              <a:ea typeface="Raleway"/>
              <a:cs typeface="Raleway"/>
              <a:sym typeface="Raleway"/>
            </a:endParaRPr>
          </a:p>
          <a:p>
            <a:pPr marL="457200" lvl="0" indent="-298450" algn="l" rtl="0">
              <a:lnSpc>
                <a:spcPct val="150000"/>
              </a:lnSpc>
              <a:spcBef>
                <a:spcPts val="0"/>
              </a:spcBef>
              <a:spcAft>
                <a:spcPts val="0"/>
              </a:spcAft>
              <a:buSzPts val="1100"/>
              <a:buFont typeface="Raleway"/>
              <a:buAutoNum type="arabicPeriod"/>
            </a:pPr>
            <a:r>
              <a:rPr lang="pt-PT" sz="1100">
                <a:latin typeface="Raleway"/>
                <a:ea typeface="Raleway"/>
                <a:cs typeface="Raleway"/>
                <a:sym typeface="Raleway"/>
              </a:rPr>
              <a:t>Write A Message and Post It For Your Friends To See It</a:t>
            </a:r>
            <a:endParaRPr sz="1100">
              <a:latin typeface="Raleway"/>
              <a:ea typeface="Raleway"/>
              <a:cs typeface="Raleway"/>
              <a:sym typeface="Raleway"/>
            </a:endParaRPr>
          </a:p>
        </p:txBody>
      </p:sp>
      <p:sp>
        <p:nvSpPr>
          <p:cNvPr id="235" name="Google Shape;235;p31"/>
          <p:cNvSpPr txBox="1"/>
          <p:nvPr/>
        </p:nvSpPr>
        <p:spPr>
          <a:xfrm>
            <a:off x="498300" y="3768950"/>
            <a:ext cx="4894800" cy="289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a:latin typeface="Lato"/>
                <a:ea typeface="Lato"/>
                <a:cs typeface="Lato"/>
                <a:sym typeface="Lato"/>
              </a:rPr>
              <a:t>Task 1	Task 2          Task 3	       Task 4	     Task 5	Task 6</a:t>
            </a:r>
            <a:endParaRPr>
              <a:latin typeface="Lato"/>
              <a:ea typeface="Lato"/>
              <a:cs typeface="Lato"/>
              <a:sym typeface="Lato"/>
            </a:endParaRPr>
          </a:p>
        </p:txBody>
      </p:sp>
      <p:sp>
        <p:nvSpPr>
          <p:cNvPr id="236" name="Google Shape;236;p31"/>
          <p:cNvSpPr txBox="1"/>
          <p:nvPr/>
        </p:nvSpPr>
        <p:spPr>
          <a:xfrm>
            <a:off x="230825" y="1410675"/>
            <a:ext cx="5266800" cy="327600"/>
          </a:xfrm>
          <a:prstGeom prst="rect">
            <a:avLst/>
          </a:prstGeom>
          <a:noFill/>
          <a:ln>
            <a:noFill/>
          </a:ln>
        </p:spPr>
        <p:txBody>
          <a:bodyPr spcFirstLastPara="1" wrap="square" lIns="91425" tIns="91425" rIns="91425" bIns="91425" anchor="t" anchorCtr="0">
            <a:noAutofit/>
          </a:bodyPr>
          <a:lstStyle/>
          <a:p>
            <a:pPr marL="457200" lvl="0" indent="-298450" algn="l" rtl="0">
              <a:spcBef>
                <a:spcPts val="0"/>
              </a:spcBef>
              <a:spcAft>
                <a:spcPts val="0"/>
              </a:spcAft>
              <a:buSzPts val="1100"/>
              <a:buFont typeface="Lato"/>
              <a:buChar char="●"/>
            </a:pPr>
            <a:r>
              <a:rPr lang="pt-PT" sz="1100">
                <a:latin typeface="Lato"/>
                <a:ea typeface="Lato"/>
                <a:cs typeface="Lato"/>
                <a:sym typeface="Lato"/>
              </a:rPr>
              <a:t>Blue = Really Easy; Red = Easy; Orange = Medium Difficulty; Green = Hard; Purple = Really Hard</a:t>
            </a:r>
            <a:endParaRPr sz="1100">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2"/>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pt-PT"/>
              <a:t>Final user Thoughts</a:t>
            </a:r>
            <a:endParaRPr/>
          </a:p>
        </p:txBody>
      </p:sp>
      <p:sp>
        <p:nvSpPr>
          <p:cNvPr id="242" name="Google Shape;242;p32"/>
          <p:cNvSpPr txBox="1">
            <a:spLocks noGrp="1"/>
          </p:cNvSpPr>
          <p:nvPr>
            <p:ph type="body" idx="1"/>
          </p:nvPr>
        </p:nvSpPr>
        <p:spPr>
          <a:xfrm>
            <a:off x="1720050" y="2078875"/>
            <a:ext cx="5031300" cy="2261100"/>
          </a:xfrm>
          <a:prstGeom prst="rect">
            <a:avLst/>
          </a:prstGeom>
        </p:spPr>
        <p:txBody>
          <a:bodyPr spcFirstLastPara="1" wrap="square" lIns="91425" tIns="91425" rIns="91425" bIns="91425" anchor="t" anchorCtr="0">
            <a:noAutofit/>
          </a:bodyPr>
          <a:lstStyle/>
          <a:p>
            <a:pPr marL="457200" marR="101600" lvl="0" indent="-333375" algn="l" rtl="0">
              <a:lnSpc>
                <a:spcPct val="150000"/>
              </a:lnSpc>
              <a:spcBef>
                <a:spcPts val="300"/>
              </a:spcBef>
              <a:spcAft>
                <a:spcPts val="0"/>
              </a:spcAft>
              <a:buClr>
                <a:srgbClr val="202124"/>
              </a:buClr>
              <a:buSzPts val="1650"/>
              <a:buFont typeface="Roboto"/>
              <a:buChar char="●"/>
            </a:pPr>
            <a:r>
              <a:rPr lang="pt-PT" sz="1650">
                <a:solidFill>
                  <a:srgbClr val="202124"/>
                </a:solidFill>
                <a:highlight>
                  <a:srgbClr val="F8F9FA"/>
                </a:highlight>
                <a:latin typeface="Roboto"/>
                <a:ea typeface="Roboto"/>
                <a:cs typeface="Roboto"/>
                <a:sym typeface="Roboto"/>
              </a:rPr>
              <a:t>Change The Colors For Better Visibility</a:t>
            </a:r>
            <a:endParaRPr sz="1650">
              <a:solidFill>
                <a:srgbClr val="202124"/>
              </a:solidFill>
              <a:highlight>
                <a:srgbClr val="F8F9FA"/>
              </a:highlight>
              <a:latin typeface="Roboto"/>
              <a:ea typeface="Roboto"/>
              <a:cs typeface="Roboto"/>
              <a:sym typeface="Roboto"/>
            </a:endParaRPr>
          </a:p>
          <a:p>
            <a:pPr marL="457200" marR="101600" lvl="0" indent="-333375" algn="l" rtl="0">
              <a:lnSpc>
                <a:spcPct val="150000"/>
              </a:lnSpc>
              <a:spcBef>
                <a:spcPts val="0"/>
              </a:spcBef>
              <a:spcAft>
                <a:spcPts val="0"/>
              </a:spcAft>
              <a:buClr>
                <a:srgbClr val="202124"/>
              </a:buClr>
              <a:buSzPts val="1650"/>
              <a:buFont typeface="Roboto"/>
              <a:buChar char="●"/>
            </a:pPr>
            <a:r>
              <a:rPr lang="pt-PT" sz="1650">
                <a:solidFill>
                  <a:srgbClr val="202124"/>
                </a:solidFill>
                <a:highlight>
                  <a:srgbClr val="F8F9FA"/>
                </a:highlight>
                <a:latin typeface="Roboto"/>
                <a:ea typeface="Roboto"/>
                <a:cs typeface="Roboto"/>
                <a:sym typeface="Roboto"/>
              </a:rPr>
              <a:t>Add a ‘Go Back’ Button x2</a:t>
            </a:r>
            <a:endParaRPr sz="1650">
              <a:solidFill>
                <a:srgbClr val="202124"/>
              </a:solidFill>
              <a:highlight>
                <a:srgbClr val="F8F9FA"/>
              </a:highlight>
              <a:latin typeface="Roboto"/>
              <a:ea typeface="Roboto"/>
              <a:cs typeface="Roboto"/>
              <a:sym typeface="Roboto"/>
            </a:endParaRPr>
          </a:p>
          <a:p>
            <a:pPr marL="457200" marR="101600" lvl="0" indent="-333375" algn="l" rtl="0">
              <a:lnSpc>
                <a:spcPct val="150000"/>
              </a:lnSpc>
              <a:spcBef>
                <a:spcPts val="0"/>
              </a:spcBef>
              <a:spcAft>
                <a:spcPts val="0"/>
              </a:spcAft>
              <a:buClr>
                <a:srgbClr val="202124"/>
              </a:buClr>
              <a:buSzPts val="1650"/>
              <a:buFont typeface="Roboto"/>
              <a:buChar char="●"/>
            </a:pPr>
            <a:r>
              <a:rPr lang="pt-PT" sz="1650">
                <a:solidFill>
                  <a:srgbClr val="202124"/>
                </a:solidFill>
                <a:highlight>
                  <a:srgbClr val="F8F9FA"/>
                </a:highlight>
                <a:latin typeface="Roboto"/>
                <a:ea typeface="Roboto"/>
                <a:cs typeface="Roboto"/>
                <a:sym typeface="Roboto"/>
              </a:rPr>
              <a:t>UserName Accesses It’s Profile</a:t>
            </a:r>
            <a:endParaRPr sz="1650">
              <a:solidFill>
                <a:srgbClr val="202124"/>
              </a:solidFill>
              <a:highlight>
                <a:srgbClr val="F8F9FA"/>
              </a:highlight>
              <a:latin typeface="Roboto"/>
              <a:ea typeface="Roboto"/>
              <a:cs typeface="Roboto"/>
              <a:sym typeface="Roboto"/>
            </a:endParaRPr>
          </a:p>
          <a:p>
            <a:pPr marL="457200" marR="101600" lvl="0" indent="-333375" algn="l" rtl="0">
              <a:lnSpc>
                <a:spcPct val="150000"/>
              </a:lnSpc>
              <a:spcBef>
                <a:spcPts val="0"/>
              </a:spcBef>
              <a:spcAft>
                <a:spcPts val="0"/>
              </a:spcAft>
              <a:buClr>
                <a:srgbClr val="202124"/>
              </a:buClr>
              <a:buSzPts val="1650"/>
              <a:buFont typeface="Roboto"/>
              <a:buChar char="●"/>
            </a:pPr>
            <a:r>
              <a:rPr lang="pt-PT" sz="1650">
                <a:solidFill>
                  <a:srgbClr val="202124"/>
                </a:solidFill>
                <a:highlight>
                  <a:srgbClr val="F8F9FA"/>
                </a:highlight>
                <a:latin typeface="Roboto"/>
                <a:ea typeface="Roboto"/>
                <a:cs typeface="Roboto"/>
                <a:sym typeface="Roboto"/>
              </a:rPr>
              <a:t>Add A Help Window</a:t>
            </a:r>
            <a:endParaRPr sz="1650">
              <a:solidFill>
                <a:srgbClr val="202124"/>
              </a:solidFill>
              <a:highlight>
                <a:srgbClr val="F8F9FA"/>
              </a:highlight>
              <a:latin typeface="Roboto"/>
              <a:ea typeface="Roboto"/>
              <a:cs typeface="Roboto"/>
              <a:sym typeface="Roboto"/>
            </a:endParaRPr>
          </a:p>
          <a:p>
            <a:pPr marL="0" lvl="0" indent="0" algn="l" rtl="0">
              <a:spcBef>
                <a:spcPts val="0"/>
              </a:spcBef>
              <a:spcAft>
                <a:spcPts val="1600"/>
              </a:spcAft>
              <a:buNone/>
            </a:pPr>
            <a:endParaRPr/>
          </a:p>
        </p:txBody>
      </p:sp>
      <p:pic>
        <p:nvPicPr>
          <p:cNvPr id="243" name="Google Shape;243;p32"/>
          <p:cNvPicPr preferRelativeResize="0"/>
          <p:nvPr/>
        </p:nvPicPr>
        <p:blipFill>
          <a:blip r:embed="rId3">
            <a:alphaModFix/>
          </a:blip>
          <a:stretch>
            <a:fillRect/>
          </a:stretch>
        </p:blipFill>
        <p:spPr>
          <a:xfrm>
            <a:off x="5945950" y="2080623"/>
            <a:ext cx="366950" cy="349525"/>
          </a:xfrm>
          <a:prstGeom prst="rect">
            <a:avLst/>
          </a:prstGeom>
          <a:noFill/>
          <a:ln>
            <a:noFill/>
          </a:ln>
        </p:spPr>
      </p:pic>
      <p:pic>
        <p:nvPicPr>
          <p:cNvPr id="244" name="Google Shape;244;p32"/>
          <p:cNvPicPr preferRelativeResize="0"/>
          <p:nvPr/>
        </p:nvPicPr>
        <p:blipFill>
          <a:blip r:embed="rId3">
            <a:alphaModFix/>
          </a:blip>
          <a:stretch>
            <a:fillRect/>
          </a:stretch>
        </p:blipFill>
        <p:spPr>
          <a:xfrm>
            <a:off x="5307850" y="2872260"/>
            <a:ext cx="366950" cy="349525"/>
          </a:xfrm>
          <a:prstGeom prst="rect">
            <a:avLst/>
          </a:prstGeom>
          <a:noFill/>
          <a:ln>
            <a:noFill/>
          </a:ln>
        </p:spPr>
      </p:pic>
      <p:pic>
        <p:nvPicPr>
          <p:cNvPr id="245" name="Google Shape;245;p32"/>
          <p:cNvPicPr preferRelativeResize="0"/>
          <p:nvPr/>
        </p:nvPicPr>
        <p:blipFill>
          <a:blip r:embed="rId3">
            <a:alphaModFix/>
          </a:blip>
          <a:stretch>
            <a:fillRect/>
          </a:stretch>
        </p:blipFill>
        <p:spPr>
          <a:xfrm>
            <a:off x="4267975" y="3300973"/>
            <a:ext cx="366950" cy="349525"/>
          </a:xfrm>
          <a:prstGeom prst="rect">
            <a:avLst/>
          </a:prstGeom>
          <a:noFill/>
          <a:ln>
            <a:noFill/>
          </a:ln>
        </p:spPr>
      </p:pic>
      <p:pic>
        <p:nvPicPr>
          <p:cNvPr id="246" name="Google Shape;246;p32"/>
          <p:cNvPicPr preferRelativeResize="0"/>
          <p:nvPr/>
        </p:nvPicPr>
        <p:blipFill rotWithShape="1">
          <a:blip r:embed="rId4">
            <a:alphaModFix/>
          </a:blip>
          <a:srcRect b="12018"/>
          <a:stretch/>
        </p:blipFill>
        <p:spPr>
          <a:xfrm>
            <a:off x="4834400" y="2521425"/>
            <a:ext cx="428225" cy="4069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3"/>
          <p:cNvSpPr txBox="1">
            <a:spLocks noGrp="1"/>
          </p:cNvSpPr>
          <p:nvPr>
            <p:ph type="body" idx="1"/>
          </p:nvPr>
        </p:nvSpPr>
        <p:spPr>
          <a:xfrm>
            <a:off x="638475" y="1557925"/>
            <a:ext cx="7688700" cy="2261100"/>
          </a:xfrm>
          <a:prstGeom prst="rect">
            <a:avLst/>
          </a:prstGeom>
        </p:spPr>
        <p:txBody>
          <a:bodyPr spcFirstLastPara="1" wrap="square" lIns="91425" tIns="91425" rIns="91425" bIns="91425" anchor="t" anchorCtr="0">
            <a:noAutofit/>
          </a:bodyPr>
          <a:lstStyle/>
          <a:p>
            <a:pPr marL="457200" lvl="0" indent="-311150" algn="l" rtl="0">
              <a:lnSpc>
                <a:spcPct val="150000"/>
              </a:lnSpc>
              <a:spcBef>
                <a:spcPts val="0"/>
              </a:spcBef>
              <a:spcAft>
                <a:spcPts val="0"/>
              </a:spcAft>
              <a:buSzPts val="1300"/>
              <a:buFont typeface="Raleway"/>
              <a:buChar char="●"/>
            </a:pPr>
            <a:r>
              <a:rPr lang="pt-PT" dirty="0" err="1">
                <a:latin typeface="Raleway"/>
                <a:ea typeface="Raleway"/>
                <a:cs typeface="Raleway"/>
                <a:sym typeface="Raleway"/>
              </a:rPr>
              <a:t>Add</a:t>
            </a:r>
            <a:r>
              <a:rPr lang="pt-PT" dirty="0">
                <a:latin typeface="Raleway"/>
                <a:ea typeface="Raleway"/>
                <a:cs typeface="Raleway"/>
                <a:sym typeface="Raleway"/>
              </a:rPr>
              <a:t> </a:t>
            </a:r>
            <a:r>
              <a:rPr lang="pt-PT" dirty="0" err="1">
                <a:latin typeface="Raleway"/>
                <a:ea typeface="Raleway"/>
                <a:cs typeface="Raleway"/>
                <a:sym typeface="Raleway"/>
              </a:rPr>
              <a:t>Find</a:t>
            </a:r>
            <a:r>
              <a:rPr lang="pt-PT" dirty="0">
                <a:latin typeface="Raleway"/>
                <a:ea typeface="Raleway"/>
                <a:cs typeface="Raleway"/>
                <a:sym typeface="Raleway"/>
              </a:rPr>
              <a:t> </a:t>
            </a:r>
            <a:r>
              <a:rPr lang="pt-PT" dirty="0" err="1">
                <a:latin typeface="Raleway"/>
                <a:ea typeface="Raleway"/>
                <a:cs typeface="Raleway"/>
                <a:sym typeface="Raleway"/>
              </a:rPr>
              <a:t>Album</a:t>
            </a:r>
            <a:r>
              <a:rPr lang="pt-PT" dirty="0">
                <a:latin typeface="Raleway"/>
                <a:ea typeface="Raleway"/>
                <a:cs typeface="Raleway"/>
                <a:sym typeface="Raleway"/>
              </a:rPr>
              <a:t>, Singer </a:t>
            </a:r>
            <a:r>
              <a:rPr lang="pt-PT" dirty="0" err="1">
                <a:latin typeface="Raleway"/>
                <a:ea typeface="Raleway"/>
                <a:cs typeface="Raleway"/>
                <a:sym typeface="Raleway"/>
              </a:rPr>
              <a:t>and</a:t>
            </a:r>
            <a:r>
              <a:rPr lang="pt-PT" dirty="0">
                <a:latin typeface="Raleway"/>
                <a:ea typeface="Raleway"/>
                <a:cs typeface="Raleway"/>
                <a:sym typeface="Raleway"/>
              </a:rPr>
              <a:t> </a:t>
            </a:r>
            <a:r>
              <a:rPr lang="pt-PT" dirty="0" err="1">
                <a:latin typeface="Raleway"/>
                <a:ea typeface="Raleway"/>
                <a:cs typeface="Raleway"/>
                <a:sym typeface="Raleway"/>
              </a:rPr>
              <a:t>Implement</a:t>
            </a:r>
            <a:r>
              <a:rPr lang="pt-PT" dirty="0">
                <a:latin typeface="Raleway"/>
                <a:ea typeface="Raleway"/>
                <a:cs typeface="Raleway"/>
                <a:sym typeface="Raleway"/>
              </a:rPr>
              <a:t> </a:t>
            </a:r>
            <a:r>
              <a:rPr lang="pt-PT" dirty="0" err="1">
                <a:latin typeface="Raleway"/>
                <a:ea typeface="Raleway"/>
                <a:cs typeface="Raleway"/>
                <a:sym typeface="Raleway"/>
              </a:rPr>
              <a:t>Podcast</a:t>
            </a:r>
            <a:r>
              <a:rPr lang="pt-PT" dirty="0">
                <a:latin typeface="Raleway"/>
                <a:ea typeface="Raleway"/>
                <a:cs typeface="Raleway"/>
                <a:sym typeface="Raleway"/>
              </a:rPr>
              <a:t> </a:t>
            </a:r>
            <a:r>
              <a:rPr lang="pt-PT" dirty="0" err="1">
                <a:latin typeface="Raleway"/>
                <a:ea typeface="Raleway"/>
                <a:cs typeface="Raleway"/>
                <a:sym typeface="Raleway"/>
              </a:rPr>
              <a:t>Version</a:t>
            </a:r>
            <a:r>
              <a:rPr lang="pt-PT" dirty="0">
                <a:latin typeface="Raleway"/>
                <a:ea typeface="Raleway"/>
                <a:cs typeface="Raleway"/>
                <a:sym typeface="Raleway"/>
              </a:rPr>
              <a:t> </a:t>
            </a:r>
            <a:r>
              <a:rPr lang="pt-PT" dirty="0" err="1">
                <a:latin typeface="Raleway"/>
                <a:ea typeface="Raleway"/>
                <a:cs typeface="Raleway"/>
                <a:sym typeface="Raleway"/>
              </a:rPr>
              <a:t>Of</a:t>
            </a:r>
            <a:r>
              <a:rPr lang="pt-PT" dirty="0">
                <a:latin typeface="Raleway"/>
                <a:ea typeface="Raleway"/>
                <a:cs typeface="Raleway"/>
                <a:sym typeface="Raleway"/>
              </a:rPr>
              <a:t> </a:t>
            </a:r>
            <a:r>
              <a:rPr lang="pt-PT" dirty="0" err="1">
                <a:latin typeface="Raleway"/>
                <a:ea typeface="Raleway"/>
                <a:cs typeface="Raleway"/>
                <a:sym typeface="Raleway"/>
              </a:rPr>
              <a:t>App</a:t>
            </a:r>
            <a:endParaRPr dirty="0">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dirty="0" err="1">
                <a:solidFill>
                  <a:srgbClr val="000000"/>
                </a:solidFill>
                <a:latin typeface="Raleway"/>
                <a:ea typeface="Raleway"/>
                <a:cs typeface="Raleway"/>
                <a:sym typeface="Raleway"/>
              </a:rPr>
              <a:t>Get</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Shazam</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and</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Genius</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Integration</a:t>
            </a:r>
            <a:endParaRPr dirty="0">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dirty="0" err="1">
                <a:solidFill>
                  <a:srgbClr val="000000"/>
                </a:solidFill>
                <a:latin typeface="Raleway"/>
                <a:ea typeface="Raleway"/>
                <a:cs typeface="Raleway"/>
                <a:sym typeface="Raleway"/>
              </a:rPr>
              <a:t>Add</a:t>
            </a:r>
            <a:r>
              <a:rPr lang="pt-PT" dirty="0">
                <a:solidFill>
                  <a:srgbClr val="000000"/>
                </a:solidFill>
                <a:latin typeface="Raleway"/>
                <a:ea typeface="Raleway"/>
                <a:cs typeface="Raleway"/>
                <a:sym typeface="Raleway"/>
              </a:rPr>
              <a:t> a </a:t>
            </a:r>
            <a:r>
              <a:rPr lang="pt-PT" dirty="0" err="1">
                <a:solidFill>
                  <a:srgbClr val="000000"/>
                </a:solidFill>
                <a:latin typeface="Raleway"/>
                <a:ea typeface="Raleway"/>
                <a:cs typeface="Raleway"/>
                <a:sym typeface="Raleway"/>
              </a:rPr>
              <a:t>Go</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Back</a:t>
            </a:r>
            <a:r>
              <a:rPr lang="pt-PT" dirty="0">
                <a:solidFill>
                  <a:srgbClr val="000000"/>
                </a:solidFill>
                <a:latin typeface="Raleway"/>
                <a:ea typeface="Raleway"/>
                <a:cs typeface="Raleway"/>
                <a:sym typeface="Raleway"/>
              </a:rPr>
              <a:t> </a:t>
            </a:r>
            <a:r>
              <a:rPr lang="pt-PT" dirty="0" err="1">
                <a:solidFill>
                  <a:srgbClr val="000000"/>
                </a:solidFill>
                <a:latin typeface="Raleway"/>
                <a:ea typeface="Raleway"/>
                <a:cs typeface="Raleway"/>
                <a:sym typeface="Raleway"/>
              </a:rPr>
              <a:t>Button</a:t>
            </a:r>
            <a:endParaRPr dirty="0">
              <a:solidFill>
                <a:srgbClr val="000000"/>
              </a:solidFill>
              <a:latin typeface="Raleway"/>
              <a:ea typeface="Raleway"/>
              <a:cs typeface="Raleway"/>
              <a:sym typeface="Raleway"/>
            </a:endParaRPr>
          </a:p>
          <a:p>
            <a:pPr marL="457200" lvl="0" indent="-311150" algn="l" rtl="0">
              <a:lnSpc>
                <a:spcPct val="150000"/>
              </a:lnSpc>
              <a:spcBef>
                <a:spcPts val="0"/>
              </a:spcBef>
              <a:spcAft>
                <a:spcPts val="0"/>
              </a:spcAft>
              <a:buClr>
                <a:srgbClr val="000000"/>
              </a:buClr>
              <a:buSzPts val="1300"/>
              <a:buFont typeface="Raleway"/>
              <a:buChar char="●"/>
            </a:pPr>
            <a:r>
              <a:rPr lang="pt-PT" dirty="0" err="1">
                <a:solidFill>
                  <a:srgbClr val="333333"/>
                </a:solidFill>
                <a:highlight>
                  <a:srgbClr val="FFFFFF"/>
                </a:highlight>
                <a:latin typeface="Raleway"/>
                <a:ea typeface="Raleway"/>
                <a:cs typeface="Raleway"/>
                <a:sym typeface="Raleway"/>
              </a:rPr>
              <a:t>Beautify</a:t>
            </a:r>
            <a:r>
              <a:rPr lang="pt-PT" dirty="0">
                <a:solidFill>
                  <a:srgbClr val="333333"/>
                </a:solidFill>
                <a:highlight>
                  <a:srgbClr val="FFFFFF"/>
                </a:highlight>
                <a:latin typeface="Raleway"/>
                <a:ea typeface="Raleway"/>
                <a:cs typeface="Raleway"/>
                <a:sym typeface="Raleway"/>
              </a:rPr>
              <a:t> </a:t>
            </a:r>
            <a:r>
              <a:rPr lang="pt-PT" dirty="0" err="1">
                <a:solidFill>
                  <a:srgbClr val="333333"/>
                </a:solidFill>
                <a:highlight>
                  <a:srgbClr val="FFFFFF"/>
                </a:highlight>
                <a:latin typeface="Raleway"/>
                <a:ea typeface="Raleway"/>
                <a:cs typeface="Raleway"/>
                <a:sym typeface="Raleway"/>
              </a:rPr>
              <a:t>user</a:t>
            </a:r>
            <a:r>
              <a:rPr lang="pt-PT">
                <a:solidFill>
                  <a:srgbClr val="333333"/>
                </a:solidFill>
                <a:highlight>
                  <a:srgbClr val="FFFFFF"/>
                </a:highlight>
                <a:latin typeface="Raleway"/>
                <a:ea typeface="Raleway"/>
                <a:cs typeface="Raleway"/>
                <a:sym typeface="Raleway"/>
              </a:rPr>
              <a:t> interface</a:t>
            </a:r>
            <a:endParaRPr>
              <a:solidFill>
                <a:srgbClr val="333333"/>
              </a:solidFill>
              <a:highlight>
                <a:srgbClr val="FFFFFF"/>
              </a:highlight>
              <a:latin typeface="Raleway"/>
              <a:ea typeface="Raleway"/>
              <a:cs typeface="Raleway"/>
              <a:sym typeface="Raleway"/>
            </a:endParaRPr>
          </a:p>
          <a:p>
            <a:pPr marL="457200" lvl="0" indent="-311150" algn="l" rtl="0">
              <a:lnSpc>
                <a:spcPct val="150000"/>
              </a:lnSpc>
              <a:spcBef>
                <a:spcPts val="0"/>
              </a:spcBef>
              <a:spcAft>
                <a:spcPts val="0"/>
              </a:spcAft>
              <a:buClr>
                <a:srgbClr val="333333"/>
              </a:buClr>
              <a:buSzPts val="1300"/>
              <a:buFont typeface="Raleway"/>
              <a:buChar char="●"/>
            </a:pPr>
            <a:r>
              <a:rPr lang="pt-PT" dirty="0" err="1">
                <a:solidFill>
                  <a:srgbClr val="333333"/>
                </a:solidFill>
                <a:highlight>
                  <a:srgbClr val="FFFFFF"/>
                </a:highlight>
                <a:latin typeface="Raleway"/>
                <a:ea typeface="Raleway"/>
                <a:cs typeface="Raleway"/>
                <a:sym typeface="Raleway"/>
              </a:rPr>
              <a:t>Develop</a:t>
            </a:r>
            <a:r>
              <a:rPr lang="pt-PT" dirty="0">
                <a:solidFill>
                  <a:srgbClr val="333333"/>
                </a:solidFill>
                <a:highlight>
                  <a:srgbClr val="FFFFFF"/>
                </a:highlight>
                <a:latin typeface="Raleway"/>
                <a:ea typeface="Raleway"/>
                <a:cs typeface="Raleway"/>
                <a:sym typeface="Raleway"/>
              </a:rPr>
              <a:t> A </a:t>
            </a:r>
            <a:r>
              <a:rPr lang="pt-PT" dirty="0" err="1">
                <a:solidFill>
                  <a:srgbClr val="333333"/>
                </a:solidFill>
                <a:highlight>
                  <a:srgbClr val="FFFFFF"/>
                </a:highlight>
                <a:latin typeface="Raleway"/>
                <a:ea typeface="Raleway"/>
                <a:cs typeface="Raleway"/>
                <a:sym typeface="Raleway"/>
              </a:rPr>
              <a:t>Database</a:t>
            </a:r>
            <a:r>
              <a:rPr lang="pt-PT" dirty="0">
                <a:solidFill>
                  <a:srgbClr val="333333"/>
                </a:solidFill>
                <a:highlight>
                  <a:srgbClr val="FFFFFF"/>
                </a:highlight>
                <a:latin typeface="Raleway"/>
                <a:ea typeface="Raleway"/>
                <a:cs typeface="Raleway"/>
                <a:sym typeface="Raleway"/>
              </a:rPr>
              <a:t> </a:t>
            </a:r>
            <a:endParaRPr dirty="0">
              <a:solidFill>
                <a:srgbClr val="333333"/>
              </a:solidFill>
              <a:highlight>
                <a:srgbClr val="FFFFFF"/>
              </a:highlight>
              <a:latin typeface="Raleway"/>
              <a:ea typeface="Raleway"/>
              <a:cs typeface="Raleway"/>
              <a:sym typeface="Raleway"/>
            </a:endParaRPr>
          </a:p>
          <a:p>
            <a:pPr marL="457200" lvl="0" indent="0" algn="l" rtl="0">
              <a:lnSpc>
                <a:spcPct val="150000"/>
              </a:lnSpc>
              <a:spcBef>
                <a:spcPts val="1600"/>
              </a:spcBef>
              <a:spcAft>
                <a:spcPts val="1600"/>
              </a:spcAft>
              <a:buNone/>
            </a:pPr>
            <a:endParaRPr dirty="0">
              <a:solidFill>
                <a:srgbClr val="333333"/>
              </a:solidFill>
              <a:highlight>
                <a:srgbClr val="FFFFFF"/>
              </a:highlight>
              <a:latin typeface="Arial"/>
              <a:ea typeface="Arial"/>
              <a:cs typeface="Arial"/>
              <a:sym typeface="Arial"/>
            </a:endParaRPr>
          </a:p>
        </p:txBody>
      </p:sp>
      <p:sp>
        <p:nvSpPr>
          <p:cNvPr id="252" name="Google Shape;252;p33"/>
          <p:cNvSpPr txBox="1">
            <a:spLocks noGrp="1"/>
          </p:cNvSpPr>
          <p:nvPr>
            <p:ph type="title"/>
          </p:nvPr>
        </p:nvSpPr>
        <p:spPr>
          <a:xfrm>
            <a:off x="688025" y="606325"/>
            <a:ext cx="7688700" cy="5352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pt-PT">
                <a:solidFill>
                  <a:srgbClr val="000000"/>
                </a:solidFill>
                <a:latin typeface="Arial"/>
                <a:ea typeface="Arial"/>
                <a:cs typeface="Arial"/>
                <a:sym typeface="Arial"/>
              </a:rPr>
              <a:t>Future Work</a:t>
            </a:r>
            <a:endParaRPr>
              <a:solidFill>
                <a:srgbClr val="000000"/>
              </a:solidFill>
              <a:latin typeface="Arial"/>
              <a:ea typeface="Arial"/>
              <a:cs typeface="Arial"/>
              <a:sym typeface="Arial"/>
            </a:endParaRPr>
          </a:p>
          <a:p>
            <a:pPr marL="0" lvl="0" indent="0" algn="l" rtl="0">
              <a:lnSpc>
                <a:spcPct val="115000"/>
              </a:lnSpc>
              <a:spcBef>
                <a:spcPts val="0"/>
              </a:spcBef>
              <a:spcAft>
                <a:spcPts val="0"/>
              </a:spcAft>
              <a:buNone/>
            </a:pPr>
            <a:endParaRPr>
              <a:solidFill>
                <a:srgbClr val="000000"/>
              </a:solidFill>
              <a:latin typeface="Arial"/>
              <a:ea typeface="Arial"/>
              <a:cs typeface="Arial"/>
              <a:sym typeface="Arial"/>
            </a:endParaRPr>
          </a:p>
        </p:txBody>
      </p:sp>
      <p:pic>
        <p:nvPicPr>
          <p:cNvPr id="253" name="Google Shape;253;p33"/>
          <p:cNvPicPr preferRelativeResize="0"/>
          <p:nvPr/>
        </p:nvPicPr>
        <p:blipFill>
          <a:blip r:embed="rId3">
            <a:alphaModFix/>
          </a:blip>
          <a:stretch>
            <a:fillRect/>
          </a:stretch>
        </p:blipFill>
        <p:spPr>
          <a:xfrm>
            <a:off x="6160225" y="1940325"/>
            <a:ext cx="2537025" cy="2559075"/>
          </a:xfrm>
          <a:prstGeom prst="rect">
            <a:avLst/>
          </a:prstGeom>
          <a:noFill/>
          <a:ln>
            <a:noFill/>
          </a:ln>
        </p:spPr>
      </p:pic>
      <p:sp>
        <p:nvSpPr>
          <p:cNvPr id="254" name="Google Shape;254;p33"/>
          <p:cNvSpPr txBox="1"/>
          <p:nvPr/>
        </p:nvSpPr>
        <p:spPr>
          <a:xfrm>
            <a:off x="755725" y="3433900"/>
            <a:ext cx="5723100" cy="120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pt-PT" b="1">
                <a:latin typeface="Lato"/>
                <a:ea typeface="Lato"/>
                <a:cs typeface="Lato"/>
                <a:sym typeface="Lato"/>
              </a:rPr>
              <a:t>Effort:</a:t>
            </a:r>
            <a:endParaRPr b="1">
              <a:latin typeface="Lato"/>
              <a:ea typeface="Lato"/>
              <a:cs typeface="Lato"/>
              <a:sym typeface="Lato"/>
            </a:endParaRPr>
          </a:p>
          <a:p>
            <a:pPr marL="0" lvl="0" indent="0" algn="l" rtl="0">
              <a:spcBef>
                <a:spcPts val="0"/>
              </a:spcBef>
              <a:spcAft>
                <a:spcPts val="0"/>
              </a:spcAft>
              <a:buNone/>
            </a:pPr>
            <a:r>
              <a:rPr lang="pt-PT">
                <a:latin typeface="Lato"/>
                <a:ea typeface="Lato"/>
                <a:cs typeface="Lato"/>
                <a:sym typeface="Lato"/>
              </a:rPr>
              <a:t>Pedro Marques 92926 - 40%;</a:t>
            </a:r>
            <a:endParaRPr>
              <a:latin typeface="Lato"/>
              <a:ea typeface="Lato"/>
              <a:cs typeface="Lato"/>
              <a:sym typeface="Lato"/>
            </a:endParaRPr>
          </a:p>
          <a:p>
            <a:pPr marL="0" lvl="0" indent="0" algn="l" rtl="0">
              <a:spcBef>
                <a:spcPts val="0"/>
              </a:spcBef>
              <a:spcAft>
                <a:spcPts val="0"/>
              </a:spcAft>
              <a:buNone/>
            </a:pPr>
            <a:r>
              <a:rPr lang="pt-PT">
                <a:latin typeface="Lato"/>
                <a:ea typeface="Lato"/>
                <a:cs typeface="Lato"/>
                <a:sym typeface="Lato"/>
              </a:rPr>
              <a:t>Wei Ye 93442 - 35%;</a:t>
            </a:r>
            <a:endParaRPr>
              <a:latin typeface="Lato"/>
              <a:ea typeface="Lato"/>
              <a:cs typeface="Lato"/>
              <a:sym typeface="Lato"/>
            </a:endParaRPr>
          </a:p>
          <a:p>
            <a:pPr marL="0" lvl="0" indent="0" algn="l" rtl="0">
              <a:spcBef>
                <a:spcPts val="0"/>
              </a:spcBef>
              <a:spcAft>
                <a:spcPts val="0"/>
              </a:spcAft>
              <a:buNone/>
            </a:pPr>
            <a:r>
              <a:rPr lang="pt-PT">
                <a:latin typeface="Lato"/>
                <a:ea typeface="Lato"/>
                <a:cs typeface="Lato"/>
                <a:sym typeface="Lato"/>
              </a:rPr>
              <a:t>Eduardo Santos 93107 - 25%</a:t>
            </a:r>
            <a:endParaRPr>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1017</Words>
  <Application>Microsoft Macintosh PowerPoint</Application>
  <PresentationFormat>On-screen Show (16:9)</PresentationFormat>
  <Paragraphs>118</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Roboto</vt:lpstr>
      <vt:lpstr>Lato</vt:lpstr>
      <vt:lpstr>Arial</vt:lpstr>
      <vt:lpstr>Raleway</vt:lpstr>
      <vt:lpstr>Streamline</vt:lpstr>
      <vt:lpstr>PowerPoint Presentation</vt:lpstr>
      <vt:lpstr>Introduction</vt:lpstr>
      <vt:lpstr>Project Objectives</vt:lpstr>
      <vt:lpstr>Personas</vt:lpstr>
      <vt:lpstr>Personas</vt:lpstr>
      <vt:lpstr>Scenario for Francisco</vt:lpstr>
      <vt:lpstr>Scenario for Ana</vt:lpstr>
      <vt:lpstr>Requirements</vt:lpstr>
      <vt:lpstr>Low Fidelity Prototype </vt:lpstr>
      <vt:lpstr>LFP User Evaluation</vt:lpstr>
      <vt:lpstr>LFP User Evaluation</vt:lpstr>
      <vt:lpstr>Platform Used for the Functional Prototype </vt:lpstr>
      <vt:lpstr>User Evaluation of the Functional Prototype</vt:lpstr>
      <vt:lpstr>User Evaluation of the Functional Prototype</vt:lpstr>
      <vt:lpstr>User Evaluation of the Functional Prototype</vt:lpstr>
      <vt:lpstr>User Evaluation of the Functional Prototype</vt:lpstr>
      <vt:lpstr>Demo Da Aplicação</vt:lpstr>
      <vt:lpstr>User Evaluation of the Functional Prototype</vt:lpstr>
      <vt:lpstr>User Evaluation of the Functional Prototype</vt:lpstr>
      <vt:lpstr>Final user Thoughts</vt:lpstr>
      <vt:lpstr>Future Work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Eduardo Santos</cp:lastModifiedBy>
  <cp:revision>1</cp:revision>
  <dcterms:modified xsi:type="dcterms:W3CDTF">2020-06-02T18:58:04Z</dcterms:modified>
</cp:coreProperties>
</file>